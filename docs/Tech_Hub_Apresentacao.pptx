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-1097280"/>
            <a:ext cx="4572000" cy="4572000"/>
          </a:xfrm>
          <a:prstGeom prst="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509760" y="1920240"/>
            <a:ext cx="2194560" cy="2194560"/>
          </a:xfrm>
          <a:prstGeom prst="roundRect">
            <a:avLst/>
          </a:prstGeom>
          <a:solidFill>
            <a:srgbClr val="041123"/>
          </a:solidFill>
          <a:ln w="19050">
            <a:solidFill>
              <a:srgbClr val="3AF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0" y="1920240"/>
            <a:ext cx="2194560" cy="21945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5400" b="0" i="0">
                <a:solidFill>
                  <a:srgbClr val="3AF6FF"/>
                </a:solidFill>
                <a:latin typeface="Segoe UI"/>
              </a:rPr>
              <a:t>🛒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8046720" cy="2926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5400" b="1" i="0">
                <a:solidFill>
                  <a:srgbClr val="EEF7FF"/>
                </a:solidFill>
                <a:latin typeface="Segoe UI"/>
              </a:rPr>
              <a:t>TECH HUB</a:t>
            </a:r>
          </a:p>
          <a:p>
            <a:pPr>
              <a:spcBef>
                <a:spcPts val="400"/>
              </a:spcBef>
            </a:pPr>
            <a:r>
              <a:rPr sz="2600" b="1" i="0">
                <a:solidFill>
                  <a:srgbClr val="3AF6FF"/>
                </a:solidFill>
                <a:latin typeface="Segoe UI"/>
              </a:rPr>
              <a:t>Marketplace de Tecnologia</a:t>
            </a:r>
          </a:p>
          <a:p>
            <a:pPr>
              <a:spcBef>
                <a:spcPts val="1400"/>
              </a:spcBef>
            </a:pPr>
            <a:r>
              <a:rPr sz="1500" b="0" i="0">
                <a:solidFill>
                  <a:srgbClr val="9BB1CA"/>
                </a:solidFill>
                <a:latin typeface="Segoe UI"/>
              </a:rPr>
              <a:t>Compra, venda e troca de hardware entre pessoas e lojas —
com negociação, pagamento e entrega de ponta a ponta.</a:t>
            </a:r>
          </a:p>
          <a:p>
            <a:pPr>
              <a:spcBef>
                <a:spcPts val="2200"/>
              </a:spcBef>
            </a:pPr>
            <a:r>
              <a:rPr sz="1300" b="0" i="0">
                <a:solidFill>
                  <a:srgbClr val="6B7A99"/>
                </a:solidFill>
                <a:latin typeface="Segoe UI"/>
              </a:rPr>
              <a:t>Programação Back-End  ·  Django  ·  Apresentação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0FA7FF"/>
                </a:solidFill>
                <a:latin typeface="Segoe UI"/>
              </a:rPr>
              <a:t>1 · O QUE É O SISTEMA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O problema que resolve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Visão geral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1064240" cy="822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600" b="0" i="0">
                <a:solidFill>
                  <a:srgbClr val="EEF7FF"/>
                </a:solidFill>
                <a:latin typeface="Segoe UI"/>
              </a:rPr>
              <a:t>Comprar e trocar produtos de tecnologia usados é confuso e inseguro: </a:t>
            </a:r>
            <a:r>
              <a:rPr sz="1600" b="0" i="0">
                <a:solidFill>
                  <a:srgbClr val="9BB1CA"/>
                </a:solidFill>
                <a:latin typeface="Segoe UI"/>
              </a:rPr>
              <a:t>anúncios espalhados, negociação solta no chat e sem garantia de pagamento ou entrega.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71800"/>
            <a:ext cx="3566160" cy="31089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971800"/>
            <a:ext cx="356616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154680"/>
            <a:ext cx="3163824" cy="2779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O Tech Hub centraliza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Anúncios de venda E de troca no mesmo lugar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Negociação estruturada por propostas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Pagamento e entrega acompanhados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Perfis de pessoa física e loja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2971800"/>
            <a:ext cx="3566160" cy="31089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2971800"/>
            <a:ext cx="3566160" cy="82296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3154680"/>
            <a:ext cx="3163824" cy="2779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Para quem é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PF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compra, vende e troca usados/seminovos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Loja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vende produtos novos com selo verificado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Comprador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negocia e paga com segurança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Vendedor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controla anúncios e entregas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2971800"/>
            <a:ext cx="3566160" cy="31089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2971800"/>
            <a:ext cx="356616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3154680"/>
            <a:ext cx="3163824" cy="27797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Diferencial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Sistema completo de negociação de trocas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Propostas e contrapropostas por turnos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Confirmação de entrega dos 2 lados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Pagamento de diferença em dinheiro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3AF6FF"/>
                </a:solidFill>
                <a:latin typeface="Segoe UI"/>
              </a:rPr>
              <a:t>REGRAS DE NEGÓCIO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Perfis de usuário e permissões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RF01–RF03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949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39496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49926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EEF7FF"/>
                </a:solidFill>
                <a:latin typeface="Segoe UI"/>
              </a:rPr>
              <a:t>👤  Pessoa Física (CPF)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Compra de lojas e de outros usuários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Cria anúncios de Venda, Troca ou ambos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Pode anunciar produtos usados/seminovos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Participa de negociações de troca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Cadastro validado: CPF único + maior de 18 anos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2011680"/>
            <a:ext cx="53949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2011680"/>
            <a:ext cx="5394960" cy="82296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194560"/>
            <a:ext cx="49926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EEF7FF"/>
                </a:solidFill>
                <a:latin typeface="Segoe UI"/>
              </a:rPr>
              <a:t>🏢  Loja (CNPJ)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Vende produtos (apenas novos)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Cria anúncios somente de Venda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Não participa de trocas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Selo visual de "Loja Verificada"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Cadastro validado: CNPJ único + dados do responsável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FFC107"/>
                </a:solidFill>
                <a:latin typeface="Segoe UI"/>
              </a:rPr>
              <a:t>DECISÕES TÉCNICAS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Arquitetura 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RNF01–RNF02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20440" cy="1874519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2044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3118104" cy="1545335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Backend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Python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linguagem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Django 5.2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framework web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DRF + SimpleJWT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API REST e auth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2011680"/>
            <a:ext cx="3520440" cy="1874519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2011680"/>
            <a:ext cx="3520440" cy="82296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2194560"/>
            <a:ext cx="3118104" cy="1545335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Dados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PostgreSQL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banco relacional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Pillow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upload de imagens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FA7FF"/>
                </a:solidFill>
                <a:latin typeface="Segoe UI"/>
              </a:rPr>
              <a:t>django-environ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config via .env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2011680"/>
            <a:ext cx="3520440" cy="1874519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2011680"/>
            <a:ext cx="352044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194560"/>
            <a:ext cx="3118104" cy="1545335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Frontend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0FF88"/>
                </a:solidFill>
                <a:latin typeface="Segoe UI"/>
              </a:rPr>
              <a:t>Templates Django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server-side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0FF88"/>
                </a:solidFill>
                <a:latin typeface="Segoe UI"/>
              </a:rPr>
              <a:t>CSS próprio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tema claro/escuro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00FF88"/>
                </a:solidFill>
                <a:latin typeface="Segoe UI"/>
              </a:rPr>
              <a:t>JS puro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máscaras e validação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5440680" cy="201168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5440680" cy="82296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251960"/>
            <a:ext cx="5038344" cy="16824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Organização por domínios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Views finas em marketplace_app/domains/: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Segoe UI"/>
              </a:rPr>
              <a:t>auth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cadastro, login, perfil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Segoe UI"/>
              </a:rPr>
              <a:t>listings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anúncios e busca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Segoe UI"/>
              </a:rPr>
              <a:t>cart / checkout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carrinho, pedidos, pagamento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FFC107"/>
                </a:solidFill>
                <a:latin typeface="Segoe UI"/>
              </a:rPr>
              <a:t>trades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negociação de trocas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4069080"/>
            <a:ext cx="5440680" cy="201168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4069080"/>
            <a:ext cx="544068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251960"/>
            <a:ext cx="5038344" cy="16824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Integrações externas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Mercado Pago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checkout + webhook de pagamento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API REST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listagem pública e cadastro via JSON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JWT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autenticação stateless para a API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1" i="0">
                <a:solidFill>
                  <a:srgbClr val="3AF6FF"/>
                </a:solidFill>
                <a:latin typeface="Segoe UI"/>
              </a:rPr>
              <a:t>GitHub Actions 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CI: migrations + testes + lint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8A4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8A4FD4"/>
                </a:solidFill>
                <a:latin typeface="Segoe UI"/>
              </a:rPr>
              <a:t>MODELAGEM DO BANCO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Principais entidades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PostgreSQL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Identidade &amp; lojas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3AF6FF"/>
                </a:solidFill>
                <a:latin typeface="Segoe UI"/>
              </a:rPr>
              <a:t>User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AbstractUser, is_store, strikes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3AF6FF"/>
                </a:solidFill>
                <a:latin typeface="Segoe UI"/>
              </a:rPr>
              <a:t>CommonProfile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CPF, nascimento, endereço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3AF6FF"/>
                </a:solidFill>
                <a:latin typeface="Segoe UI"/>
              </a:rPr>
              <a:t>StoreProfile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CNPJ, selo, banner, descrição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3AF6FF"/>
                </a:solidFill>
                <a:latin typeface="Segoe UI"/>
              </a:rPr>
              <a:t>StoreVerification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pedido de selo + documento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3AF6FF"/>
                </a:solidFill>
                <a:latin typeface="Segoe UI"/>
              </a:rPr>
              <a:t>Address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livro de endereços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3AF6FF"/>
                </a:solidFill>
                <a:latin typeface="Segoe UI"/>
              </a:rPr>
              <a:t>Category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categorias de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011680"/>
            <a:ext cx="3566160" cy="82296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Catálogo &amp; compra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FA7FF"/>
                </a:solidFill>
                <a:latin typeface="Segoe UI"/>
              </a:rPr>
              <a:t>Listing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anúncio: venda/troca + estoque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FA7FF"/>
                </a:solidFill>
                <a:latin typeface="Segoe UI"/>
              </a:rPr>
              <a:t>ListingImage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múltiplas imagens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FA7FF"/>
                </a:solidFill>
                <a:latin typeface="Segoe UI"/>
              </a:rPr>
              <a:t>Comment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comentários com respostas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FA7FF"/>
                </a:solidFill>
                <a:latin typeface="Segoe UI"/>
              </a:rPr>
              <a:t>Cart / CartItem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carrinho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FA7FF"/>
                </a:solidFill>
                <a:latin typeface="Segoe UI"/>
              </a:rPr>
              <a:t>Order / OrderItem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pedido + envio/recebimento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FA7FF"/>
                </a:solidFill>
                <a:latin typeface="Segoe UI"/>
              </a:rPr>
              <a:t>Payment / Delivery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pagamento e frete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011680"/>
            <a:ext cx="356616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Troca, avisos &amp; moderação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0FF88"/>
                </a:solidFill>
                <a:latin typeface="Segoe UI"/>
              </a:rPr>
              <a:t>TradeRequest / Proposal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negociação + quem paga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0FF88"/>
                </a:solidFill>
                <a:latin typeface="Segoe UI"/>
              </a:rPr>
              <a:t>TradeFulfillment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acordo/execução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0FF88"/>
                </a:solidFill>
                <a:latin typeface="Segoe UI"/>
              </a:rPr>
              <a:t>TradeDelivery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entrega dos 2 lados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0FF88"/>
                </a:solidFill>
                <a:latin typeface="Segoe UI"/>
              </a:rPr>
              <a:t>Notification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avisos em tempo real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1" i="0">
                <a:solidFill>
                  <a:srgbClr val="00FF88"/>
                </a:solidFill>
                <a:latin typeface="Segoe UI"/>
              </a:rPr>
              <a:t>ListingReport 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denúncias de anúncio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0FA7FF"/>
                </a:solidFill>
                <a:latin typeface="Segoe UI"/>
              </a:rPr>
              <a:t>2 · DEMONSTRAÇÃO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Fluxo de compra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RF02–RF04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139696" cy="329184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52728" y="2011680"/>
            <a:ext cx="731520" cy="731520"/>
          </a:xfrm>
          <a:prstGeom prst="ellipse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EEF7F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97480"/>
            <a:ext cx="1920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3AF6FF"/>
                </a:solidFill>
                <a:latin typeface="Segoe UI"/>
              </a:rPr>
              <a:t>Buscar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BB1CA"/>
                </a:solidFill>
                <a:latin typeface="Segoe UI"/>
              </a:rPr>
              <a:t>Busca + filtros por categoria, condição, preço e tipo de vendedor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2286000"/>
            <a:ext cx="2139696" cy="329184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11296" y="2011680"/>
            <a:ext cx="731520" cy="731520"/>
          </a:xfrm>
          <a:prstGeom prst="ellipse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EEF7FF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697480"/>
            <a:ext cx="1920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3AF6FF"/>
                </a:solidFill>
                <a:latin typeface="Segoe UI"/>
              </a:rPr>
              <a:t>Anúncio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BB1CA"/>
                </a:solidFill>
                <a:latin typeface="Segoe UI"/>
              </a:rPr>
              <a:t>Detalhes, galeria de imagens e comentários com respostas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2286000"/>
            <a:ext cx="2139696" cy="329184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9864" y="2011680"/>
            <a:ext cx="731520" cy="731520"/>
          </a:xfrm>
          <a:prstGeom prst="ellipse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EEF7FF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75504" y="2697480"/>
            <a:ext cx="1920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3AF6FF"/>
                </a:solidFill>
                <a:latin typeface="Segoe UI"/>
              </a:rPr>
              <a:t>Carrinho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BB1CA"/>
                </a:solidFill>
                <a:latin typeface="Segoe UI"/>
              </a:rPr>
              <a:t>Adiciona itens marcando compra ou troca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24344" y="2286000"/>
            <a:ext cx="2139696" cy="329184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28432" y="2011680"/>
            <a:ext cx="731520" cy="731520"/>
          </a:xfrm>
          <a:prstGeom prst="ellipse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EEF7FF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4072" y="2697480"/>
            <a:ext cx="1920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3AF6FF"/>
                </a:solidFill>
                <a:latin typeface="Segoe UI"/>
              </a:rPr>
              <a:t>Checkout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BB1CA"/>
                </a:solidFill>
                <a:latin typeface="Segoe UI"/>
              </a:rPr>
              <a:t>Endereço de entrega + pagamento (Mercado Pago)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82912" y="2286000"/>
            <a:ext cx="2139696" cy="329184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87000" y="2011680"/>
            <a:ext cx="731520" cy="731520"/>
          </a:xfrm>
          <a:prstGeom prst="ellipse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 i="0">
                <a:solidFill>
                  <a:srgbClr val="EEF7FF"/>
                </a:solidFill>
                <a:latin typeface="Segoe U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697480"/>
            <a:ext cx="1920240" cy="2743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1" i="0">
                <a:solidFill>
                  <a:srgbClr val="3AF6FF"/>
                </a:solidFill>
                <a:latin typeface="Segoe UI"/>
              </a:rPr>
              <a:t>Pedido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9BB1CA"/>
                </a:solidFill>
                <a:latin typeface="Segoe UI"/>
              </a:rPr>
              <a:t>Acompanha status do pagamento e da entrega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00FF88"/>
                </a:solidFill>
                <a:latin typeface="Segoe UI"/>
              </a:rPr>
              <a:t>2 · DEMONSTRAÇÃO  ·  DIFERENCIAL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Sistema de negociação de troca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RF05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500" b="1" i="0">
                <a:solidFill>
                  <a:srgbClr val="EEF7FF"/>
                </a:solidFill>
                <a:latin typeface="Segoe UI"/>
              </a:rPr>
              <a:t>Negociação por turnos: </a:t>
            </a:r>
            <a:r>
              <a:rPr sz="1500" b="0" i="0">
                <a:solidFill>
                  <a:srgbClr val="9BB1CA"/>
                </a:solidFill>
                <a:latin typeface="Segoe UI"/>
              </a:rPr>
              <a:t>os participantes alternam propostas e contrapropostas até um acordo — com itens, imagens e diferença em dinheiro.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5440680" cy="338328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544068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80360"/>
            <a:ext cx="5038344" cy="30540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EEF7FF"/>
                </a:solidFill>
                <a:latin typeface="Segoe UI"/>
              </a:rPr>
              <a:t>Como funciona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00FF88"/>
                </a:solidFill>
                <a:latin typeface="Segoe UI"/>
              </a:rPr>
              <a:t>1.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Comprador abre a negociação no anúncio de troca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00FF88"/>
                </a:solidFill>
                <a:latin typeface="Segoe UI"/>
              </a:rPr>
              <a:t>2.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Envia proposta: item + valor em dinheiro + fotos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00FF88"/>
                </a:solidFill>
                <a:latin typeface="Segoe UI"/>
              </a:rPr>
              <a:t>3.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O outro lado aceita ou faz contraproposta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00FF88"/>
                </a:solidFill>
                <a:latin typeface="Segoe UI"/>
              </a:rPr>
              <a:t>4.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Qualquer um dos dois pode aceitar a proposta atual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00FF88"/>
                </a:solidFill>
                <a:latin typeface="Segoe UI"/>
              </a:rPr>
              <a:t>5.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Aceito → checkout e confirmação de entrega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00FF88"/>
                </a:solidFill>
                <a:latin typeface="Segoe UI"/>
              </a:rPr>
              <a:t>6.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Os 2 confirmam a entrega → troca concluída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697480"/>
            <a:ext cx="5440680" cy="338328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697480"/>
            <a:ext cx="544068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038344" cy="305409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600" b="1" i="0">
                <a:solidFill>
                  <a:srgbClr val="EEF7FF"/>
                </a:solidFill>
                <a:latin typeface="Segoe UI"/>
              </a:rPr>
              <a:t>Estados da negociação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3AF6FF"/>
                </a:solidFill>
                <a:latin typeface="Segoe UI"/>
              </a:rPr>
              <a:t>Aguardando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proposta inicial pendente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3AF6FF"/>
                </a:solidFill>
                <a:latin typeface="Segoe UI"/>
              </a:rPr>
              <a:t>Em negociação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propostas indo e voltando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3AF6FF"/>
                </a:solidFill>
                <a:latin typeface="Segoe UI"/>
              </a:rPr>
              <a:t>Aprovada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acordo fechado, rumo à entrega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3AF6FF"/>
                </a:solidFill>
                <a:latin typeface="Segoe UI"/>
              </a:rPr>
              <a:t>Concluída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entrega confirmada pelos dois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1" i="0">
                <a:solidFill>
                  <a:srgbClr val="3AF6FF"/>
                </a:solidFill>
                <a:latin typeface="Segoe UI"/>
              </a:rPr>
              <a:t>Recusada / Cancelada 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encerrada sem acordo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0FA7FF"/>
                </a:solidFill>
                <a:latin typeface="Segoe UI"/>
              </a:rPr>
              <a:t>2 · DEMONSTRAÇÃO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Uma plataforma completa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Pós-MVP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670048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2670048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2267712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🔔  Notificações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Avisos de venda, compra, troca e comentário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Sino no header com badge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Tempo real via polling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Marcar lida + lidas/não lidas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2011680"/>
            <a:ext cx="2670048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2011680"/>
            <a:ext cx="2670048" cy="82296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2194560"/>
            <a:ext cx="2267712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📍  Endereços &amp; frete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Livro de endereços (CRUD)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Preenche o checkout num clique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Frete simulado por serviço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Subtotal + frete + total ao vivo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2011680"/>
            <a:ext cx="2670048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4768" y="2011680"/>
            <a:ext cx="2670048" cy="82296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2194560"/>
            <a:ext cx="2267712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📦  Estoque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Quantidade por anúncio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Baixa ao vender ou trocar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Esgotado automático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Repor reativa o anúncio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42832" y="2011680"/>
            <a:ext cx="269748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42832" y="2011680"/>
            <a:ext cx="269748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2194560"/>
            <a:ext cx="229514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💳  Financeiro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Painel Gastei × Ganhei × Saldo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Compras, vendas e trocas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Cada item liga ao pedido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00" b="0" i="0">
                <a:solidFill>
                  <a:srgbClr val="9BB1CA"/>
                </a:solidFill>
                <a:latin typeface="Segoe UI"/>
              </a:rPr>
              <a:t>Confirmação de envio e recebimento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8A4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8A4FD4"/>
                </a:solidFill>
                <a:latin typeface="Segoe UI"/>
              </a:rPr>
              <a:t>DIFERENCIAIS &amp; GOVERNANÇA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Lojas e moderação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Confiança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EEF7FF"/>
                </a:solidFill>
                <a:latin typeface="Segoe UI"/>
              </a:rPr>
              <a:t>🏪  Lojas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Hub de lojas (verificadas primeiro)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Vitrine com banner e descrição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Catálogo com itens esgotados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Selo de loja verificada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Solicitar verificação por documento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011680"/>
            <a:ext cx="3566160" cy="82296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EEF7FF"/>
                </a:solidFill>
                <a:latin typeface="Segoe UI"/>
              </a:rPr>
              <a:t>🛡️  Moderação de conteúdo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Filtro de termos proibidos no cadastro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Bloqueio de ofensa / conteúdo ilegal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Validação de tipo e tamanho de imagem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Denúncia de anúncio pelo usuário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Strikes: 3 → banimento automático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011680"/>
            <a:ext cx="356616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700" b="1" i="0">
                <a:solidFill>
                  <a:srgbClr val="EEF7FF"/>
                </a:solidFill>
                <a:latin typeface="Segoe UI"/>
              </a:rPr>
              <a:t>⚙️  Painel do admin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Aprovar/recusar verificações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Excluir anúncio com motivo + strike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Banir / reativar usuários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Fila de denúncias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Rate limit no login (anti força-bruta)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E04F5F"/>
                </a:solidFill>
                <a:latin typeface="Segoe UI"/>
              </a:rPr>
              <a:t>QUALIDADE &amp; SEGURANÇA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Validações, testes e proteção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RNF + Etapa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82296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Validações de regra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CPF e CNPJ com dígito verificador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Documentos únicos no cadastro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Maioridade (18+) na pessoa física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Loja não cria troca / só produto novo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Não adicionar o próprio anúncio ao carrinho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3AF6FF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Máscaras de CPF, telefone, CEP e R$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011680"/>
            <a:ext cx="356616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Testes automatizados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Cadastro de PF e PJ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Fluxo de checkout e pedidos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Fluxo completo de troca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Entrega e histórico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Webhooks de pagamento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Auth e regras dos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011680"/>
            <a:ext cx="3566160" cy="82296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Segurança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Senhas com hash + validação de força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Segredos fora do código (.env)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CSRF em todos os formulários; ORM (anti-SQLi)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Cookies seguros + SSL/HSTS em produção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Moderação de conteúdo + strikes + rate limit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25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250" b="0" i="0">
                <a:solidFill>
                  <a:srgbClr val="9BB1CA"/>
                </a:solidFill>
                <a:latin typeface="Segoe UI"/>
              </a:rPr>
              <a:t>Permissões por dono (evita IDOR)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0FA7FF"/>
                </a:solidFill>
                <a:latin typeface="Segoe UI"/>
              </a:rPr>
              <a:t>3 · DECISÕES TÉCNICAS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Por que fizemos assim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2–3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10972800" cy="41148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3AF6F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EEF7FF"/>
                </a:solidFill>
                <a:latin typeface="Segoe UI"/>
              </a:rPr>
              <a:t>User customizado desde o início</a:t>
            </a:r>
            <a:r>
              <a:rPr sz="1450" b="0" i="0">
                <a:solidFill>
                  <a:srgbClr val="9BB1CA"/>
                </a:solidFill>
                <a:latin typeface="Segoe UI"/>
              </a:rPr>
              <a:t>  —  AbstractUser com is_store evita migração dolorosa depois e unifica PF/PJ num só login.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3AF6F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EEF7FF"/>
                </a:solidFill>
                <a:latin typeface="Segoe UI"/>
              </a:rPr>
              <a:t>Perfis separados (Common/Store)</a:t>
            </a:r>
            <a:r>
              <a:rPr sz="1450" b="0" i="0">
                <a:solidFill>
                  <a:srgbClr val="9BB1CA"/>
                </a:solidFill>
                <a:latin typeface="Segoe UI"/>
              </a:rPr>
              <a:t>  —  cada tipo tem campos e validações próprios sem poluir o User com dezenas de colunas opcionais.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3AF6F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EEF7FF"/>
                </a:solidFill>
                <a:latin typeface="Segoe UI"/>
              </a:rPr>
              <a:t>Lógica em domains/ e não nas views</a:t>
            </a:r>
            <a:r>
              <a:rPr sz="1450" b="0" i="0">
                <a:solidFill>
                  <a:srgbClr val="9BB1CA"/>
                </a:solidFill>
                <a:latin typeface="Segoe UI"/>
              </a:rPr>
              <a:t>  —  views finas que delegam para módulos de domínio — mais fácil de ler, testar e dividir entre o grupo.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3AF6F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EEF7FF"/>
                </a:solidFill>
                <a:latin typeface="Segoe UI"/>
              </a:rPr>
              <a:t>Snapshots em OrderItem</a:t>
            </a:r>
            <a:r>
              <a:rPr sz="1450" b="0" i="0">
                <a:solidFill>
                  <a:srgbClr val="9BB1CA"/>
                </a:solidFill>
                <a:latin typeface="Segoe UI"/>
              </a:rPr>
              <a:t>  —  título e preço são copiados no pedido; o histórico não muda se o anúncio for editado depois.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3AF6F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EEF7FF"/>
                </a:solidFill>
                <a:latin typeface="Segoe UI"/>
              </a:rPr>
              <a:t>Troca como entidades próprias</a:t>
            </a:r>
            <a:r>
              <a:rPr sz="1450" b="0" i="0">
                <a:solidFill>
                  <a:srgbClr val="9BB1CA"/>
                </a:solidFill>
                <a:latin typeface="Segoe UI"/>
              </a:rPr>
              <a:t>  —  TradeRequest/Proposal/Fulfillment modelam a negociação real, em vez de forçar tudo no chat.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450" b="1" i="0">
                <a:solidFill>
                  <a:srgbClr val="3AF6FF"/>
                </a:solidFill>
                <a:latin typeface="Segoe UI"/>
              </a:rPr>
              <a:t>▸  </a:t>
            </a:r>
            <a:r>
              <a:rPr sz="1450" b="1" i="0">
                <a:solidFill>
                  <a:srgbClr val="EEF7FF"/>
                </a:solidFill>
                <a:latin typeface="Segoe UI"/>
              </a:rPr>
              <a:t>Pagamento via gateway + webhook</a:t>
            </a:r>
            <a:r>
              <a:rPr sz="1450" b="0" i="0">
                <a:solidFill>
                  <a:srgbClr val="9BB1CA"/>
                </a:solidFill>
                <a:latin typeface="Segoe UI"/>
              </a:rPr>
              <a:t>  —  o Mercado Pago confirma o pagamento de forma assíncrona, refletindo no status do pedido.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FFC107"/>
                </a:solidFill>
                <a:latin typeface="Segoe UI"/>
              </a:rPr>
              <a:t>4 · DIFICULDADES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O que foi difícil e o que aprendemos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1–2 min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40680" cy="82296"/>
          </a:xfrm>
          <a:prstGeom prst="rect">
            <a:avLst/>
          </a:prstGeom>
          <a:solidFill>
            <a:srgbClr val="E04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503834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EEF7FF"/>
                </a:solidFill>
                <a:latin typeface="Segoe UI"/>
              </a:rPr>
              <a:t>Desafios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Modelar a negociação de troca por turnos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Garantir que os dois lados confirmem a entrega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Integrar pagamento e tratar o webhook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Validar CPF/CNPJ e aplicar máscaras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E04F5F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Manter o visual consistente em todas as telas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011680"/>
            <a:ext cx="544068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503834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800" b="1" i="0">
                <a:solidFill>
                  <a:srgbClr val="EEF7FF"/>
                </a:solidFill>
                <a:latin typeface="Segoe UI"/>
              </a:rPr>
              <a:t>Aprendizados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Modelagem de dados orienta todo o resto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Separar a lógica em domínios facilita o trabalho em grupo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Testes dão segurança para mexer no código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Validar no backend, não só no frontend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5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50" b="0" i="0">
                <a:solidFill>
                  <a:srgbClr val="9BB1CA"/>
                </a:solidFill>
                <a:latin typeface="Segoe UI"/>
              </a:rPr>
              <a:t>Git com commits frequentes salva o projeto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685800"/>
            <a:ext cx="11183112" cy="1051560"/>
          </a:xfrm>
          <a:prstGeom prst="round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85800"/>
            <a:ext cx="128016" cy="1051560"/>
          </a:xfrm>
          <a:prstGeom prst="rect">
            <a:avLst/>
          </a:prstGeom>
          <a:solidFill>
            <a:srgbClr val="3A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8686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100" b="1" i="0">
                <a:solidFill>
                  <a:srgbClr val="3AF6FF"/>
                </a:solidFill>
                <a:latin typeface="Segoe UI"/>
              </a:rPr>
              <a:t>ROADMAP</a:t>
            </a:r>
          </a:p>
          <a:p>
            <a:r>
              <a:rPr sz="2500" b="1" i="0">
                <a:solidFill>
                  <a:srgbClr val="EEF7FF"/>
                </a:solidFill>
                <a:latin typeface="Segoe UI"/>
              </a:rPr>
              <a:t>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749808"/>
            <a:ext cx="265176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100" b="0" i="0">
                <a:solidFill>
                  <a:srgbClr val="9BB1CA"/>
                </a:solidFill>
                <a:latin typeface="Segoe UI"/>
              </a:rPr>
              <a:t>Etapa 7 · Deploy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566160" cy="82296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Em andamento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Deploy em produção (Railway / Render)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collectstatic + Postgres gerenciado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Variáveis de ambiente no servidor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FFC107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Domínio e 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011680"/>
            <a:ext cx="3566160" cy="82296"/>
          </a:xfrm>
          <a:prstGeom prst="rect">
            <a:avLst/>
          </a:prstGeom>
          <a:solidFill>
            <a:srgbClr val="0FA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Melhorias planejadas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Avaliações de vendedor (RF06)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Chat em tempo real (WebSockets)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Imagens em cloud storage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FA7FF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Notificações de negociação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2011680"/>
            <a:ext cx="3566160" cy="4023360"/>
          </a:xfrm>
          <a:prstGeom prst="roundRect">
            <a:avLst/>
          </a:prstGeom>
          <a:solidFill>
            <a:srgbClr val="081D3D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2011680"/>
            <a:ext cx="3566160" cy="82296"/>
          </a:xfrm>
          <a:prstGeom prst="rect">
            <a:avLst/>
          </a:prstGeom>
          <a:solidFill>
            <a:srgbClr val="00F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2194560"/>
            <a:ext cx="3163824" cy="369417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700"/>
              </a:spcAft>
            </a:pPr>
            <a:r>
              <a:rPr sz="1500" b="1" i="0">
                <a:solidFill>
                  <a:srgbClr val="EEF7FF"/>
                </a:solidFill>
                <a:latin typeface="Segoe UI"/>
              </a:rPr>
              <a:t>Polimento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Refino de responsividade mobile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Mais cobertura de testes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Painel admin de moderação</a:t>
            </a:r>
          </a:p>
          <a:p>
            <a:pPr>
              <a:lnSpc>
                <a:spcPct val="104000"/>
              </a:lnSpc>
              <a:spcAft>
                <a:spcPts val="400"/>
              </a:spcAft>
            </a:pPr>
            <a:r>
              <a:rPr sz="1300" b="0" i="0">
                <a:solidFill>
                  <a:srgbClr val="00FF88"/>
                </a:solidFill>
                <a:latin typeface="Segoe UI"/>
              </a:rPr>
              <a:t>• </a:t>
            </a:r>
            <a:r>
              <a:rPr sz="1300" b="0" i="0">
                <a:solidFill>
                  <a:srgbClr val="9BB1CA"/>
                </a:solidFill>
                <a:latin typeface="Segoe UI"/>
              </a:rPr>
              <a:t>Acessibilidade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1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2743200"/>
            <a:ext cx="4572000" cy="4572000"/>
          </a:xfrm>
          <a:prstGeom prst="rect">
            <a:avLst/>
          </a:prstGeom>
          <a:solidFill>
            <a:srgbClr val="081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gradFill>
            <a:gsLst>
              <a:gs pos="0">
                <a:srgbClr val="3AF6FF"/>
              </a:gs>
              <a:gs pos="100000">
                <a:srgbClr val="0FA7FF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2377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4800" b="1" i="0">
                <a:solidFill>
                  <a:srgbClr val="EEF7FF"/>
                </a:solidFill>
                <a:latin typeface="Segoe UI"/>
              </a:rPr>
              <a:t>Obrigado!</a:t>
            </a:r>
          </a:p>
          <a:p>
            <a:pPr>
              <a:spcBef>
                <a:spcPts val="1000"/>
              </a:spcBef>
            </a:pPr>
            <a:r>
              <a:rPr sz="2800" b="1" i="0">
                <a:solidFill>
                  <a:srgbClr val="3AF6FF"/>
                </a:solidFill>
                <a:latin typeface="Segoe UI"/>
              </a:rPr>
              <a:t>Perguntas?</a:t>
            </a:r>
          </a:p>
          <a:p>
            <a:pPr>
              <a:spcBef>
                <a:spcPts val="1800"/>
              </a:spcBef>
            </a:pPr>
            <a:r>
              <a:rPr sz="1500" b="0" i="0">
                <a:solidFill>
                  <a:srgbClr val="9BB1CA"/>
                </a:solidFill>
                <a:latin typeface="Segoe UI"/>
              </a:rPr>
              <a:t>Tech Hub  ·  Marketplace de Tecnologia em Django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6B7A99"/>
                </a:solidFill>
                <a:latin typeface="Segoe UI"/>
              </a:rPr>
              <a:t>Demonstração ao vivo disponível.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900" b="1" i="0">
                <a:solidFill>
                  <a:srgbClr val="3AF6FF"/>
                </a:solidFill>
                <a:latin typeface="Segoe UI"/>
              </a:rPr>
              <a:t>Tech Hub</a:t>
            </a:r>
            <a:r>
              <a:rPr sz="900" b="0" i="0">
                <a:solidFill>
                  <a:srgbClr val="6B7A99"/>
                </a:solidFill>
                <a:latin typeface="Segoe UI"/>
              </a:rPr>
              <a:t>  ·  Marketplace de Tecnologia  ·  Programação Back-End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914400" cy="3200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900" b="0" i="0">
                <a:solidFill>
                  <a:srgbClr val="6B7A9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