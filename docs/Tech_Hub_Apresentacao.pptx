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1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869680" y="-1097280"/>
            <a:ext cx="4572000" cy="4572000"/>
          </a:xfrm>
          <a:prstGeom prst="rect">
            <a:avLst/>
          </a:prstGeom>
          <a:solidFill>
            <a:srgbClr val="08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509760" y="1920240"/>
            <a:ext cx="2194560" cy="2194560"/>
          </a:xfrm>
          <a:prstGeom prst="roundRect">
            <a:avLst/>
          </a:prstGeom>
          <a:solidFill>
            <a:srgbClr val="041123"/>
          </a:solidFill>
          <a:ln w="19050">
            <a:solidFill>
              <a:srgbClr val="3AF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0" y="1920240"/>
            <a:ext cx="2194560" cy="219456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5400" b="0" i="0">
                <a:solidFill>
                  <a:srgbClr val="3AF6FF"/>
                </a:solidFill>
                <a:latin typeface="Segoe UI"/>
              </a:rPr>
              <a:t>🛒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gradFill>
            <a:gsLst>
              <a:gs pos="0">
                <a:srgbClr val="3AF6FF"/>
              </a:gs>
              <a:gs pos="100000">
                <a:srgbClr val="0FA7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8046720" cy="2926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r>
              <a:rPr sz="5400" b="1" i="0">
                <a:solidFill>
                  <a:srgbClr val="EEF7FF"/>
                </a:solidFill>
                <a:latin typeface="Segoe UI"/>
              </a:rPr>
              <a:t>TECH HUB</a:t>
            </a:r>
          </a:p>
          <a:p>
            <a:pPr>
              <a:spcBef>
                <a:spcPts val="400"/>
              </a:spcBef>
            </a:pPr>
            <a:r>
              <a:rPr sz="2600" b="1" i="0">
                <a:solidFill>
                  <a:srgbClr val="3AF6FF"/>
                </a:solidFill>
                <a:latin typeface="Segoe UI"/>
              </a:rPr>
              <a:t>Marketplace de Tecnologia</a:t>
            </a:r>
          </a:p>
          <a:p>
            <a:pPr>
              <a:spcBef>
                <a:spcPts val="1400"/>
              </a:spcBef>
            </a:pPr>
            <a:r>
              <a:rPr sz="1500" b="0" i="0">
                <a:solidFill>
                  <a:srgbClr val="9BB1CA"/>
                </a:solidFill>
                <a:latin typeface="Segoe UI"/>
              </a:rPr>
              <a:t>Compra, venda e troca de hardware entre pessoas e lojas —
com negociação, pagamento e entrega de ponta a ponta.</a:t>
            </a:r>
          </a:p>
          <a:p>
            <a:pPr>
              <a:spcBef>
                <a:spcPts val="2200"/>
              </a:spcBef>
            </a:pPr>
            <a:r>
              <a:rPr sz="1300" b="0" i="0">
                <a:solidFill>
                  <a:srgbClr val="6B7A99"/>
                </a:solidFill>
                <a:latin typeface="Segoe UI"/>
              </a:rPr>
              <a:t>Programação Back-End  ·  Django  ·  Apresentação 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1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gradFill>
            <a:gsLst>
              <a:gs pos="0">
                <a:srgbClr val="3AF6FF"/>
              </a:gs>
              <a:gs pos="100000">
                <a:srgbClr val="0FA7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685800"/>
            <a:ext cx="11183112" cy="1051560"/>
          </a:xfrm>
          <a:prstGeom prst="roundRect">
            <a:avLst/>
          </a:prstGeom>
          <a:solidFill>
            <a:srgbClr val="08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5800"/>
            <a:ext cx="128016" cy="1051560"/>
          </a:xfrm>
          <a:prstGeom prst="rect">
            <a:avLst/>
          </a:prstGeom>
          <a:solidFill>
            <a:srgbClr val="0F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868680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r>
              <a:rPr sz="1100" b="1" i="0">
                <a:solidFill>
                  <a:srgbClr val="0FA7FF"/>
                </a:solidFill>
                <a:latin typeface="Segoe UI"/>
              </a:rPr>
              <a:t>1 · O QUE É O SISTEMA</a:t>
            </a:r>
          </a:p>
          <a:p>
            <a:r>
              <a:rPr sz="2500" b="1" i="0">
                <a:solidFill>
                  <a:srgbClr val="EEF7FF"/>
                </a:solidFill>
                <a:latin typeface="Segoe UI"/>
              </a:rPr>
              <a:t>O problema que resolve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749808"/>
            <a:ext cx="265176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/>
            <a:r>
              <a:rPr sz="1100" b="0" i="0">
                <a:solidFill>
                  <a:srgbClr val="9BB1CA"/>
                </a:solidFill>
                <a:latin typeface="Segoe UI"/>
              </a:rPr>
              <a:t>Visão geral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1106424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r>
              <a:rPr sz="1600" b="0" i="0">
                <a:solidFill>
                  <a:srgbClr val="EEF7FF"/>
                </a:solidFill>
                <a:latin typeface="Segoe UI"/>
              </a:rPr>
              <a:t>Comprar e trocar produtos de tecnologia usados é confuso e inseguro: </a:t>
            </a:r>
            <a:r>
              <a:rPr sz="1600" b="0" i="0">
                <a:solidFill>
                  <a:srgbClr val="9BB1CA"/>
                </a:solidFill>
                <a:latin typeface="Segoe UI"/>
              </a:rPr>
              <a:t>anúncios espalhados, negociação solta no chat e sem garantia de pagamento ou entrega.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71800"/>
            <a:ext cx="3566160" cy="310896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971800"/>
            <a:ext cx="3566160" cy="82296"/>
          </a:xfrm>
          <a:prstGeom prst="rect">
            <a:avLst/>
          </a:prstGeom>
          <a:solidFill>
            <a:srgbClr val="3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154680"/>
            <a:ext cx="3163824" cy="277977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EEF7FF"/>
                </a:solidFill>
                <a:latin typeface="Segoe UI"/>
              </a:rPr>
              <a:t>O Tech Hub centraliza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0" i="0">
                <a:solidFill>
                  <a:srgbClr val="3AF6FF"/>
                </a:solidFill>
                <a:latin typeface="Segoe UI"/>
              </a:rPr>
              <a:t>•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Anúncios de venda E de troca no mesmo lugar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0" i="0">
                <a:solidFill>
                  <a:srgbClr val="3AF6FF"/>
                </a:solidFill>
                <a:latin typeface="Segoe UI"/>
              </a:rPr>
              <a:t>•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Negociação estruturada por propostas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0" i="0">
                <a:solidFill>
                  <a:srgbClr val="3AF6FF"/>
                </a:solidFill>
                <a:latin typeface="Segoe UI"/>
              </a:rPr>
              <a:t>•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Pagamento e entrega acompanhados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0" i="0">
                <a:solidFill>
                  <a:srgbClr val="3AF6FF"/>
                </a:solidFill>
                <a:latin typeface="Segoe UI"/>
              </a:rPr>
              <a:t>•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Perfis de pessoa física e loja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971800"/>
            <a:ext cx="3566160" cy="310896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2971800"/>
            <a:ext cx="3566160" cy="82296"/>
          </a:xfrm>
          <a:prstGeom prst="rect">
            <a:avLst/>
          </a:prstGeom>
          <a:solidFill>
            <a:srgbClr val="0F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3154680"/>
            <a:ext cx="3163824" cy="277977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EEF7FF"/>
                </a:solidFill>
                <a:latin typeface="Segoe UI"/>
              </a:rPr>
              <a:t>Para quem é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1" i="0">
                <a:solidFill>
                  <a:srgbClr val="0FA7FF"/>
                </a:solidFill>
                <a:latin typeface="Segoe UI"/>
              </a:rPr>
              <a:t>PF 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compra, vende e troca usados/seminovos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1" i="0">
                <a:solidFill>
                  <a:srgbClr val="0FA7FF"/>
                </a:solidFill>
                <a:latin typeface="Segoe UI"/>
              </a:rPr>
              <a:t>Loja 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vende produtos novos com selo verificado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1" i="0">
                <a:solidFill>
                  <a:srgbClr val="0FA7FF"/>
                </a:solidFill>
                <a:latin typeface="Segoe UI"/>
              </a:rPr>
              <a:t>Comprador 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negocia e paga com segurança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1" i="0">
                <a:solidFill>
                  <a:srgbClr val="0FA7FF"/>
                </a:solidFill>
                <a:latin typeface="Segoe UI"/>
              </a:rPr>
              <a:t>Vendedor 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controla anúncios e entregas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2971800"/>
            <a:ext cx="3566160" cy="310896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3296" y="2971800"/>
            <a:ext cx="3566160" cy="82296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3154680"/>
            <a:ext cx="3163824" cy="277977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EEF7FF"/>
                </a:solidFill>
                <a:latin typeface="Segoe UI"/>
              </a:rPr>
              <a:t>Diferencial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0" i="0">
                <a:solidFill>
                  <a:srgbClr val="00FF88"/>
                </a:solidFill>
                <a:latin typeface="Segoe UI"/>
              </a:rPr>
              <a:t>•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Sistema completo de negociação de trocas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0" i="0">
                <a:solidFill>
                  <a:srgbClr val="00FF88"/>
                </a:solidFill>
                <a:latin typeface="Segoe UI"/>
              </a:rPr>
              <a:t>•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Propostas e contrapropostas por turnos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0" i="0">
                <a:solidFill>
                  <a:srgbClr val="00FF88"/>
                </a:solidFill>
                <a:latin typeface="Segoe UI"/>
              </a:rPr>
              <a:t>•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Confirmação de entrega dos 2 lados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0" i="0">
                <a:solidFill>
                  <a:srgbClr val="00FF88"/>
                </a:solidFill>
                <a:latin typeface="Segoe UI"/>
              </a:rPr>
              <a:t>•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Pagamento de diferença em dinheiro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r>
              <a:rPr sz="900" b="1" i="0">
                <a:solidFill>
                  <a:srgbClr val="3AF6FF"/>
                </a:solidFill>
                <a:latin typeface="Segoe UI"/>
              </a:rPr>
              <a:t>Tech Hub</a:t>
            </a:r>
            <a:r>
              <a:rPr sz="900" b="0" i="0">
                <a:solidFill>
                  <a:srgbClr val="6B7A99"/>
                </a:solidFill>
                <a:latin typeface="Segoe UI"/>
              </a:rPr>
              <a:t>  ·  Marketplace de Tecnologia  ·  Programação Back-End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1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gradFill>
            <a:gsLst>
              <a:gs pos="0">
                <a:srgbClr val="3AF6FF"/>
              </a:gs>
              <a:gs pos="100000">
                <a:srgbClr val="0FA7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685800"/>
            <a:ext cx="11183112" cy="1051560"/>
          </a:xfrm>
          <a:prstGeom prst="roundRect">
            <a:avLst/>
          </a:prstGeom>
          <a:solidFill>
            <a:srgbClr val="08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5800"/>
            <a:ext cx="128016" cy="1051560"/>
          </a:xfrm>
          <a:prstGeom prst="rect">
            <a:avLst/>
          </a:prstGeom>
          <a:solidFill>
            <a:srgbClr val="3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868680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r>
              <a:rPr sz="1100" b="1" i="0">
                <a:solidFill>
                  <a:srgbClr val="3AF6FF"/>
                </a:solidFill>
                <a:latin typeface="Segoe UI"/>
              </a:rPr>
              <a:t>REGRAS DE NEGÓCIO</a:t>
            </a:r>
          </a:p>
          <a:p>
            <a:r>
              <a:rPr sz="2500" b="1" i="0">
                <a:solidFill>
                  <a:srgbClr val="EEF7FF"/>
                </a:solidFill>
                <a:latin typeface="Segoe UI"/>
              </a:rPr>
              <a:t>Perfis de usuário e permissões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749808"/>
            <a:ext cx="265176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/>
            <a:r>
              <a:rPr sz="1100" b="0" i="0">
                <a:solidFill>
                  <a:srgbClr val="9BB1CA"/>
                </a:solidFill>
                <a:latin typeface="Segoe UI"/>
              </a:rPr>
              <a:t>RF01–RF03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5394960" cy="402336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5394960" cy="82296"/>
          </a:xfrm>
          <a:prstGeom prst="rect">
            <a:avLst/>
          </a:prstGeom>
          <a:solidFill>
            <a:srgbClr val="3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94560"/>
            <a:ext cx="4992624" cy="369417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800" b="1" i="0">
                <a:solidFill>
                  <a:srgbClr val="EEF7FF"/>
                </a:solidFill>
                <a:latin typeface="Segoe UI"/>
              </a:rPr>
              <a:t>👤  Pessoa Física (CPF)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3AF6FF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Compra de lojas e de outros usuários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3AF6FF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Cria anúncios de Venda, Troca ou ambos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3AF6FF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Pode anunciar produtos usados/seminovos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3AF6FF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Participa de negociações de troca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3AF6FF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Cadastro validado: CPF único + maior de 18 anos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2011680"/>
            <a:ext cx="5394960" cy="402336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8" y="2011680"/>
            <a:ext cx="5394960" cy="82296"/>
          </a:xfrm>
          <a:prstGeom prst="rect">
            <a:avLst/>
          </a:prstGeom>
          <a:solidFill>
            <a:srgbClr val="0F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2194560"/>
            <a:ext cx="4992624" cy="369417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800" b="1" i="0">
                <a:solidFill>
                  <a:srgbClr val="EEF7FF"/>
                </a:solidFill>
                <a:latin typeface="Segoe UI"/>
              </a:rPr>
              <a:t>🏢  Loja (CNPJ)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0FA7FF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Vende produtos (apenas novos)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0FA7FF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Cria anúncios somente de Venda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0FA7FF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Não participa de trocas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0FA7FF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Selo visual de "Loja Verificada"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0FA7FF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Cadastro validado: CNPJ único + dados do responsável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r>
              <a:rPr sz="900" b="1" i="0">
                <a:solidFill>
                  <a:srgbClr val="3AF6FF"/>
                </a:solidFill>
                <a:latin typeface="Segoe UI"/>
              </a:rPr>
              <a:t>Tech Hub</a:t>
            </a:r>
            <a:r>
              <a:rPr sz="900" b="0" i="0">
                <a:solidFill>
                  <a:srgbClr val="6B7A99"/>
                </a:solidFill>
                <a:latin typeface="Segoe UI"/>
              </a:rPr>
              <a:t>  ·  Marketplace de Tecnologia  ·  Programação Back-End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1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gradFill>
            <a:gsLst>
              <a:gs pos="0">
                <a:srgbClr val="3AF6FF"/>
              </a:gs>
              <a:gs pos="100000">
                <a:srgbClr val="0FA7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685800"/>
            <a:ext cx="11183112" cy="1051560"/>
          </a:xfrm>
          <a:prstGeom prst="roundRect">
            <a:avLst/>
          </a:prstGeom>
          <a:solidFill>
            <a:srgbClr val="08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5800"/>
            <a:ext cx="128016" cy="105156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868680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r>
              <a:rPr sz="1100" b="1" i="0">
                <a:solidFill>
                  <a:srgbClr val="FFC107"/>
                </a:solidFill>
                <a:latin typeface="Segoe UI"/>
              </a:rPr>
              <a:t>DECISÕES TÉCNICAS</a:t>
            </a:r>
          </a:p>
          <a:p>
            <a:r>
              <a:rPr sz="2500" b="1" i="0">
                <a:solidFill>
                  <a:srgbClr val="EEF7FF"/>
                </a:solidFill>
                <a:latin typeface="Segoe UI"/>
              </a:rPr>
              <a:t>Arquitetura e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749808"/>
            <a:ext cx="265176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/>
            <a:r>
              <a:rPr sz="1100" b="0" i="0">
                <a:solidFill>
                  <a:srgbClr val="9BB1CA"/>
                </a:solidFill>
                <a:latin typeface="Segoe UI"/>
              </a:rPr>
              <a:t>RNF01–RNF02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520440" cy="1874519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3520440" cy="82296"/>
          </a:xfrm>
          <a:prstGeom prst="rect">
            <a:avLst/>
          </a:prstGeom>
          <a:solidFill>
            <a:srgbClr val="3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94560"/>
            <a:ext cx="3118104" cy="1545335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EEF7FF"/>
                </a:solidFill>
                <a:latin typeface="Segoe UI"/>
              </a:rPr>
              <a:t>Backend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1" i="0">
                <a:solidFill>
                  <a:srgbClr val="3AF6FF"/>
                </a:solidFill>
                <a:latin typeface="Segoe UI"/>
              </a:rPr>
              <a:t>Python 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linguagem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1" i="0">
                <a:solidFill>
                  <a:srgbClr val="3AF6FF"/>
                </a:solidFill>
                <a:latin typeface="Segoe UI"/>
              </a:rPr>
              <a:t>Django 5.2 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framework web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1" i="0">
                <a:solidFill>
                  <a:srgbClr val="3AF6FF"/>
                </a:solidFill>
                <a:latin typeface="Segoe UI"/>
              </a:rPr>
              <a:t>DRF + SimpleJWT 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API REST e auth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011680"/>
            <a:ext cx="3520440" cy="1874519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2011680"/>
            <a:ext cx="3520440" cy="82296"/>
          </a:xfrm>
          <a:prstGeom prst="rect">
            <a:avLst/>
          </a:prstGeom>
          <a:solidFill>
            <a:srgbClr val="0F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2272" y="2194560"/>
            <a:ext cx="3118104" cy="1545335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EEF7FF"/>
                </a:solidFill>
                <a:latin typeface="Segoe UI"/>
              </a:rPr>
              <a:t>Dados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1" i="0">
                <a:solidFill>
                  <a:srgbClr val="0FA7FF"/>
                </a:solidFill>
                <a:latin typeface="Segoe UI"/>
              </a:rPr>
              <a:t>PostgreSQL 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banco relacional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1" i="0">
                <a:solidFill>
                  <a:srgbClr val="0FA7FF"/>
                </a:solidFill>
                <a:latin typeface="Segoe UI"/>
              </a:rPr>
              <a:t>Pillow 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upload de imagens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1" i="0">
                <a:solidFill>
                  <a:srgbClr val="0FA7FF"/>
                </a:solidFill>
                <a:latin typeface="Segoe UI"/>
              </a:rPr>
              <a:t>django-environ 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config via .env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2011680"/>
            <a:ext cx="3520440" cy="1874519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73568" y="2011680"/>
            <a:ext cx="3520440" cy="82296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2194560"/>
            <a:ext cx="3118104" cy="1545335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EEF7FF"/>
                </a:solidFill>
                <a:latin typeface="Segoe UI"/>
              </a:rPr>
              <a:t>Frontend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1" i="0">
                <a:solidFill>
                  <a:srgbClr val="00FF88"/>
                </a:solidFill>
                <a:latin typeface="Segoe UI"/>
              </a:rPr>
              <a:t>Templates Django 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server-side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1" i="0">
                <a:solidFill>
                  <a:srgbClr val="00FF88"/>
                </a:solidFill>
                <a:latin typeface="Segoe UI"/>
              </a:rPr>
              <a:t>CSS próprio 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tema claro/escuro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1" i="0">
                <a:solidFill>
                  <a:srgbClr val="00FF88"/>
                </a:solidFill>
                <a:latin typeface="Segoe UI"/>
              </a:rPr>
              <a:t>JS puro 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máscaras e validação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69080"/>
            <a:ext cx="5440680" cy="201168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069080"/>
            <a:ext cx="5440680" cy="82296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251960"/>
            <a:ext cx="5038344" cy="168249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EEF7FF"/>
                </a:solidFill>
                <a:latin typeface="Segoe UI"/>
              </a:rPr>
              <a:t>Organização por domínios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0" i="0">
                <a:solidFill>
                  <a:srgbClr val="FFC107"/>
                </a:solidFill>
                <a:latin typeface="Segoe UI"/>
              </a:rPr>
              <a:t>•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Views finas em marketplace_app/domains/: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1" i="0">
                <a:solidFill>
                  <a:srgbClr val="FFC107"/>
                </a:solidFill>
                <a:latin typeface="Segoe UI"/>
              </a:rPr>
              <a:t>auth 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cadastro, login, perfil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1" i="0">
                <a:solidFill>
                  <a:srgbClr val="FFC107"/>
                </a:solidFill>
                <a:latin typeface="Segoe UI"/>
              </a:rPr>
              <a:t>listings 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anúncios e busca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1" i="0">
                <a:solidFill>
                  <a:srgbClr val="FFC107"/>
                </a:solidFill>
                <a:latin typeface="Segoe UI"/>
              </a:rPr>
              <a:t>cart / checkout 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carrinho, pedidos, pagamento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1" i="0">
                <a:solidFill>
                  <a:srgbClr val="FFC107"/>
                </a:solidFill>
                <a:latin typeface="Segoe UI"/>
              </a:rPr>
              <a:t>trades 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negociação de trocas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4069080"/>
            <a:ext cx="5440680" cy="201168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4069080"/>
            <a:ext cx="5440680" cy="82296"/>
          </a:xfrm>
          <a:prstGeom prst="rect">
            <a:avLst/>
          </a:prstGeom>
          <a:solidFill>
            <a:srgbClr val="3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251960"/>
            <a:ext cx="5038344" cy="168249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EEF7FF"/>
                </a:solidFill>
                <a:latin typeface="Segoe UI"/>
              </a:rPr>
              <a:t>Integrações externas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1" i="0">
                <a:solidFill>
                  <a:srgbClr val="3AF6FF"/>
                </a:solidFill>
                <a:latin typeface="Segoe UI"/>
              </a:rPr>
              <a:t>Mercado Pago 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checkout + webhook de pagamento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1" i="0">
                <a:solidFill>
                  <a:srgbClr val="3AF6FF"/>
                </a:solidFill>
                <a:latin typeface="Segoe UI"/>
              </a:rPr>
              <a:t>API REST 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listagem pública e cadastro via JSON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1" i="0">
                <a:solidFill>
                  <a:srgbClr val="3AF6FF"/>
                </a:solidFill>
                <a:latin typeface="Segoe UI"/>
              </a:rPr>
              <a:t>JWT 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autenticação stateless para a API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00" b="1" i="0">
                <a:solidFill>
                  <a:srgbClr val="3AF6FF"/>
                </a:solidFill>
                <a:latin typeface="Segoe UI"/>
              </a:rPr>
              <a:t>GitHub Actions  </a:t>
            </a:r>
            <a:r>
              <a:rPr sz="1200" b="0" i="0">
                <a:solidFill>
                  <a:srgbClr val="9BB1CA"/>
                </a:solidFill>
                <a:latin typeface="Segoe UI"/>
              </a:rPr>
              <a:t>CI: migrations + testes + lint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r>
              <a:rPr sz="900" b="1" i="0">
                <a:solidFill>
                  <a:srgbClr val="3AF6FF"/>
                </a:solidFill>
                <a:latin typeface="Segoe UI"/>
              </a:rPr>
              <a:t>Tech Hub</a:t>
            </a:r>
            <a:r>
              <a:rPr sz="900" b="0" i="0">
                <a:solidFill>
                  <a:srgbClr val="6B7A99"/>
                </a:solidFill>
                <a:latin typeface="Segoe UI"/>
              </a:rPr>
              <a:t>  ·  Marketplace de Tecnologia  ·  Programação Back-End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1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gradFill>
            <a:gsLst>
              <a:gs pos="0">
                <a:srgbClr val="3AF6FF"/>
              </a:gs>
              <a:gs pos="100000">
                <a:srgbClr val="0FA7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685800"/>
            <a:ext cx="11183112" cy="1051560"/>
          </a:xfrm>
          <a:prstGeom prst="roundRect">
            <a:avLst/>
          </a:prstGeom>
          <a:solidFill>
            <a:srgbClr val="08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5800"/>
            <a:ext cx="128016" cy="1051560"/>
          </a:xfrm>
          <a:prstGeom prst="rect">
            <a:avLst/>
          </a:prstGeom>
          <a:solidFill>
            <a:srgbClr val="8A4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868680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r>
              <a:rPr sz="1100" b="1" i="0">
                <a:solidFill>
                  <a:srgbClr val="8A4FD4"/>
                </a:solidFill>
                <a:latin typeface="Segoe UI"/>
              </a:rPr>
              <a:t>MODELAGEM DO BANCO</a:t>
            </a:r>
          </a:p>
          <a:p>
            <a:r>
              <a:rPr sz="2500" b="1" i="0">
                <a:solidFill>
                  <a:srgbClr val="EEF7FF"/>
                </a:solidFill>
                <a:latin typeface="Segoe UI"/>
              </a:rPr>
              <a:t>Principais entidades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749808"/>
            <a:ext cx="265176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/>
            <a:r>
              <a:rPr sz="1100" b="0" i="0">
                <a:solidFill>
                  <a:srgbClr val="9BB1CA"/>
                </a:solidFill>
                <a:latin typeface="Segoe UI"/>
              </a:rPr>
              <a:t>PostgreSQL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566160" cy="402336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3566160" cy="82296"/>
          </a:xfrm>
          <a:prstGeom prst="rect">
            <a:avLst/>
          </a:prstGeom>
          <a:solidFill>
            <a:srgbClr val="3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94560"/>
            <a:ext cx="3163824" cy="369417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EEF7FF"/>
                </a:solidFill>
                <a:latin typeface="Segoe UI"/>
              </a:rPr>
              <a:t>Identidade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3AF6FF"/>
                </a:solidFill>
                <a:latin typeface="Segoe UI"/>
              </a:rPr>
              <a:t>User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AbstractUser + is_store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3AF6FF"/>
                </a:solidFill>
                <a:latin typeface="Segoe UI"/>
              </a:rPr>
              <a:t>CommonProfile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CPF, nascimento, endereço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3AF6FF"/>
                </a:solidFill>
                <a:latin typeface="Segoe UI"/>
              </a:rPr>
              <a:t>StoreProfile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CNPJ, razão social, selo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3AF6FF"/>
                </a:solidFill>
                <a:latin typeface="Segoe UI"/>
              </a:rPr>
              <a:t>Category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categorias de hardware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2011680"/>
            <a:ext cx="3566160" cy="402336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2011680"/>
            <a:ext cx="3566160" cy="82296"/>
          </a:xfrm>
          <a:prstGeom prst="rect">
            <a:avLst/>
          </a:prstGeom>
          <a:solidFill>
            <a:srgbClr val="0F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2194560"/>
            <a:ext cx="3163824" cy="369417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EEF7FF"/>
                </a:solidFill>
                <a:latin typeface="Segoe UI"/>
              </a:rPr>
              <a:t>Catálogo &amp; compra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0FA7FF"/>
                </a:solidFill>
                <a:latin typeface="Segoe UI"/>
              </a:rPr>
              <a:t>Listing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anúncio: venda/troca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0FA7FF"/>
                </a:solidFill>
                <a:latin typeface="Segoe UI"/>
              </a:rPr>
              <a:t>ListingImage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múltiplas imagens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0FA7FF"/>
                </a:solidFill>
                <a:latin typeface="Segoe UI"/>
              </a:rPr>
              <a:t>Comment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comentários aninhados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0FA7FF"/>
                </a:solidFill>
                <a:latin typeface="Segoe UI"/>
              </a:rPr>
              <a:t>Cart / CartItem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carrinho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0FA7FF"/>
                </a:solidFill>
                <a:latin typeface="Segoe UI"/>
              </a:rPr>
              <a:t>Order / OrderItem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pedido + snapshots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0FA7FF"/>
                </a:solidFill>
                <a:latin typeface="Segoe UI"/>
              </a:rPr>
              <a:t>Payment / Delivery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pagamento e entrega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3296" y="2011680"/>
            <a:ext cx="3566160" cy="402336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83296" y="2011680"/>
            <a:ext cx="3566160" cy="82296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2194560"/>
            <a:ext cx="3163824" cy="369417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EEF7FF"/>
                </a:solidFill>
                <a:latin typeface="Segoe UI"/>
              </a:rPr>
              <a:t>Negociação de troca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00FF88"/>
                </a:solidFill>
                <a:latin typeface="Segoe UI"/>
              </a:rPr>
              <a:t>TradeRequest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negociação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00FF88"/>
                </a:solidFill>
                <a:latin typeface="Segoe UI"/>
              </a:rPr>
              <a:t>TradeProposal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proposta + dinheiro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00FF88"/>
                </a:solidFill>
                <a:latin typeface="Segoe UI"/>
              </a:rPr>
              <a:t>TradeProposalImage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fotos da proposta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00FF88"/>
                </a:solidFill>
                <a:latin typeface="Segoe UI"/>
              </a:rPr>
              <a:t>TradeMessage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mensagens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00FF88"/>
                </a:solidFill>
                <a:latin typeface="Segoe UI"/>
              </a:rPr>
              <a:t>TradeFulfillment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execução/acordo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00FF88"/>
                </a:solidFill>
                <a:latin typeface="Segoe UI"/>
              </a:rPr>
              <a:t>TradeDelivery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entrega dos 2 lados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r>
              <a:rPr sz="900" b="1" i="0">
                <a:solidFill>
                  <a:srgbClr val="3AF6FF"/>
                </a:solidFill>
                <a:latin typeface="Segoe UI"/>
              </a:rPr>
              <a:t>Tech Hub</a:t>
            </a:r>
            <a:r>
              <a:rPr sz="900" b="0" i="0">
                <a:solidFill>
                  <a:srgbClr val="6B7A99"/>
                </a:solidFill>
                <a:latin typeface="Segoe UI"/>
              </a:rPr>
              <a:t>  ·  Marketplace de Tecnologia  ·  Programação Back-End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1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gradFill>
            <a:gsLst>
              <a:gs pos="0">
                <a:srgbClr val="3AF6FF"/>
              </a:gs>
              <a:gs pos="100000">
                <a:srgbClr val="0FA7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685800"/>
            <a:ext cx="11183112" cy="1051560"/>
          </a:xfrm>
          <a:prstGeom prst="roundRect">
            <a:avLst/>
          </a:prstGeom>
          <a:solidFill>
            <a:srgbClr val="08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5800"/>
            <a:ext cx="128016" cy="1051560"/>
          </a:xfrm>
          <a:prstGeom prst="rect">
            <a:avLst/>
          </a:prstGeom>
          <a:solidFill>
            <a:srgbClr val="0F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868680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r>
              <a:rPr sz="1100" b="1" i="0">
                <a:solidFill>
                  <a:srgbClr val="0FA7FF"/>
                </a:solidFill>
                <a:latin typeface="Segoe UI"/>
              </a:rPr>
              <a:t>2 · DEMONSTRAÇÃO</a:t>
            </a:r>
          </a:p>
          <a:p>
            <a:r>
              <a:rPr sz="2500" b="1" i="0">
                <a:solidFill>
                  <a:srgbClr val="EEF7FF"/>
                </a:solidFill>
                <a:latin typeface="Segoe UI"/>
              </a:rPr>
              <a:t>Fluxo de compra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749808"/>
            <a:ext cx="265176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/>
            <a:r>
              <a:rPr sz="1100" b="0" i="0">
                <a:solidFill>
                  <a:srgbClr val="9BB1CA"/>
                </a:solidFill>
                <a:latin typeface="Segoe UI"/>
              </a:rPr>
              <a:t>RF02–RF04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2139696" cy="329184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52728" y="2011680"/>
            <a:ext cx="731520" cy="731520"/>
          </a:xfrm>
          <a:prstGeom prst="ellipse">
            <a:avLst/>
          </a:prstGeom>
          <a:solidFill>
            <a:srgbClr val="0F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 i="0">
                <a:solidFill>
                  <a:srgbClr val="EEF7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697480"/>
            <a:ext cx="1920240" cy="2743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3AF6FF"/>
                </a:solidFill>
                <a:latin typeface="Segoe UI"/>
              </a:rPr>
              <a:t>Buscar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9BB1CA"/>
                </a:solidFill>
                <a:latin typeface="Segoe UI"/>
              </a:rPr>
              <a:t>Busca + filtros por categoria, condição, preço e tipo de vendedor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07208" y="2286000"/>
            <a:ext cx="2139696" cy="329184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511296" y="2011680"/>
            <a:ext cx="731520" cy="731520"/>
          </a:xfrm>
          <a:prstGeom prst="ellipse">
            <a:avLst/>
          </a:prstGeom>
          <a:solidFill>
            <a:srgbClr val="0F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 i="0">
                <a:solidFill>
                  <a:srgbClr val="EEF7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6936" y="2697480"/>
            <a:ext cx="1920240" cy="2743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3AF6FF"/>
                </a:solidFill>
                <a:latin typeface="Segoe UI"/>
              </a:rPr>
              <a:t>Anúncio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9BB1CA"/>
                </a:solidFill>
                <a:latin typeface="Segoe UI"/>
              </a:rPr>
              <a:t>Detalhes, galeria de imagens e comentários com respostas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65776" y="2286000"/>
            <a:ext cx="2139696" cy="329184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69864" y="2011680"/>
            <a:ext cx="731520" cy="731520"/>
          </a:xfrm>
          <a:prstGeom prst="ellipse">
            <a:avLst/>
          </a:prstGeom>
          <a:solidFill>
            <a:srgbClr val="0F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 i="0">
                <a:solidFill>
                  <a:srgbClr val="EEF7FF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5504" y="2697480"/>
            <a:ext cx="1920240" cy="2743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3AF6FF"/>
                </a:solidFill>
                <a:latin typeface="Segoe UI"/>
              </a:rPr>
              <a:t>Carrinho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9BB1CA"/>
                </a:solidFill>
                <a:latin typeface="Segoe UI"/>
              </a:rPr>
              <a:t>Adiciona itens marcando compra ou troca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24344" y="2286000"/>
            <a:ext cx="2139696" cy="329184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28432" y="2011680"/>
            <a:ext cx="731520" cy="731520"/>
          </a:xfrm>
          <a:prstGeom prst="ellipse">
            <a:avLst/>
          </a:prstGeom>
          <a:solidFill>
            <a:srgbClr val="0F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 i="0">
                <a:solidFill>
                  <a:srgbClr val="EEF7FF"/>
                </a:solidFill>
                <a:latin typeface="Sego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4072" y="2697480"/>
            <a:ext cx="1920240" cy="2743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3AF6FF"/>
                </a:solidFill>
                <a:latin typeface="Segoe UI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9BB1CA"/>
                </a:solidFill>
                <a:latin typeface="Segoe UI"/>
              </a:rPr>
              <a:t>Endereço de entrega + pagamento (Mercado Pago)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82912" y="2286000"/>
            <a:ext cx="2139696" cy="329184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287000" y="2011680"/>
            <a:ext cx="731520" cy="731520"/>
          </a:xfrm>
          <a:prstGeom prst="ellipse">
            <a:avLst/>
          </a:prstGeom>
          <a:solidFill>
            <a:srgbClr val="0F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 i="0">
                <a:solidFill>
                  <a:srgbClr val="EEF7FF"/>
                </a:solidFill>
                <a:latin typeface="Segoe U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2697480"/>
            <a:ext cx="1920240" cy="2743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3AF6FF"/>
                </a:solidFill>
                <a:latin typeface="Segoe UI"/>
              </a:rPr>
              <a:t>Pedido</a:t>
            </a:r>
          </a:p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9BB1CA"/>
                </a:solidFill>
                <a:latin typeface="Segoe UI"/>
              </a:rPr>
              <a:t>Acompanha status do pagamento e da entrega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r>
              <a:rPr sz="900" b="1" i="0">
                <a:solidFill>
                  <a:srgbClr val="3AF6FF"/>
                </a:solidFill>
                <a:latin typeface="Segoe UI"/>
              </a:rPr>
              <a:t>Tech Hub</a:t>
            </a:r>
            <a:r>
              <a:rPr sz="900" b="0" i="0">
                <a:solidFill>
                  <a:srgbClr val="6B7A99"/>
                </a:solidFill>
                <a:latin typeface="Segoe UI"/>
              </a:rPr>
              <a:t>  ·  Marketplace de Tecnologia  ·  Programação Back-End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1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gradFill>
            <a:gsLst>
              <a:gs pos="0">
                <a:srgbClr val="3AF6FF"/>
              </a:gs>
              <a:gs pos="100000">
                <a:srgbClr val="0FA7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685800"/>
            <a:ext cx="11183112" cy="1051560"/>
          </a:xfrm>
          <a:prstGeom prst="roundRect">
            <a:avLst/>
          </a:prstGeom>
          <a:solidFill>
            <a:srgbClr val="08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5800"/>
            <a:ext cx="128016" cy="1051560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868680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r>
              <a:rPr sz="1100" b="1" i="0">
                <a:solidFill>
                  <a:srgbClr val="00FF88"/>
                </a:solidFill>
                <a:latin typeface="Segoe UI"/>
              </a:rPr>
              <a:t>2 · DEMONSTRAÇÃO  ·  DIFERENCIAL</a:t>
            </a:r>
          </a:p>
          <a:p>
            <a:r>
              <a:rPr sz="2500" b="1" i="0">
                <a:solidFill>
                  <a:srgbClr val="EEF7FF"/>
                </a:solidFill>
                <a:latin typeface="Segoe UI"/>
              </a:rPr>
              <a:t>Sistema de negociação de troca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749808"/>
            <a:ext cx="265176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/>
            <a:r>
              <a:rPr sz="1100" b="0" i="0">
                <a:solidFill>
                  <a:srgbClr val="9BB1CA"/>
                </a:solidFill>
                <a:latin typeface="Segoe UI"/>
              </a:rPr>
              <a:t>RF05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r>
              <a:rPr sz="1500" b="1" i="0">
                <a:solidFill>
                  <a:srgbClr val="EEF7FF"/>
                </a:solidFill>
                <a:latin typeface="Segoe UI"/>
              </a:rPr>
              <a:t>Negociação por turnos: </a:t>
            </a:r>
            <a:r>
              <a:rPr sz="1500" b="0" i="0">
                <a:solidFill>
                  <a:srgbClr val="9BB1CA"/>
                </a:solidFill>
                <a:latin typeface="Segoe UI"/>
              </a:rPr>
              <a:t>os participantes alternam propostas e contrapropostas até um acordo — com itens, imagens e diferença em dinheiro.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5440680" cy="338328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697480"/>
            <a:ext cx="5440680" cy="82296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80360"/>
            <a:ext cx="5038344" cy="305409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600" b="1" i="0">
                <a:solidFill>
                  <a:srgbClr val="EEF7FF"/>
                </a:solidFill>
                <a:latin typeface="Segoe UI"/>
              </a:rPr>
              <a:t>Como funciona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00FF88"/>
                </a:solidFill>
                <a:latin typeface="Segoe UI"/>
              </a:rPr>
              <a:t>1.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Comprador abre a negociação no anúncio de troca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00FF88"/>
                </a:solidFill>
                <a:latin typeface="Segoe UI"/>
              </a:rPr>
              <a:t>2.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Envia proposta: item + valor em dinheiro + fotos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00FF88"/>
                </a:solidFill>
                <a:latin typeface="Segoe UI"/>
              </a:rPr>
              <a:t>3.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O outro lado aceita ou faz contraproposta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00FF88"/>
                </a:solidFill>
                <a:latin typeface="Segoe UI"/>
              </a:rPr>
              <a:t>4.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Qualquer um dos dois pode aceitar a proposta atual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00FF88"/>
                </a:solidFill>
                <a:latin typeface="Segoe UI"/>
              </a:rPr>
              <a:t>5.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Aceito → checkout e confirmação de entrega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00FF88"/>
                </a:solidFill>
                <a:latin typeface="Segoe UI"/>
              </a:rPr>
              <a:t>6.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Os 2 confirmam a entrega → troca concluída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2697480"/>
            <a:ext cx="5440680" cy="338328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697480"/>
            <a:ext cx="5440680" cy="82296"/>
          </a:xfrm>
          <a:prstGeom prst="rect">
            <a:avLst/>
          </a:prstGeom>
          <a:solidFill>
            <a:srgbClr val="3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038344" cy="305409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600" b="1" i="0">
                <a:solidFill>
                  <a:srgbClr val="EEF7FF"/>
                </a:solidFill>
                <a:latin typeface="Segoe UI"/>
              </a:rPr>
              <a:t>Estados da negociação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3AF6FF"/>
                </a:solidFill>
                <a:latin typeface="Segoe UI"/>
              </a:rPr>
              <a:t>Aguardando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proposta inicial pendente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3AF6FF"/>
                </a:solidFill>
                <a:latin typeface="Segoe UI"/>
              </a:rPr>
              <a:t>Em negociação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propostas indo e voltando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3AF6FF"/>
                </a:solidFill>
                <a:latin typeface="Segoe UI"/>
              </a:rPr>
              <a:t>Aprovada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acordo fechado, rumo à entrega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3AF6FF"/>
                </a:solidFill>
                <a:latin typeface="Segoe UI"/>
              </a:rPr>
              <a:t>Concluída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entrega confirmada pelos dois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1" i="0">
                <a:solidFill>
                  <a:srgbClr val="3AF6FF"/>
                </a:solidFill>
                <a:latin typeface="Segoe UI"/>
              </a:rPr>
              <a:t>Recusada / Cancelada 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encerrada sem acordo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r>
              <a:rPr sz="900" b="1" i="0">
                <a:solidFill>
                  <a:srgbClr val="3AF6FF"/>
                </a:solidFill>
                <a:latin typeface="Segoe UI"/>
              </a:rPr>
              <a:t>Tech Hub</a:t>
            </a:r>
            <a:r>
              <a:rPr sz="900" b="0" i="0">
                <a:solidFill>
                  <a:srgbClr val="6B7A99"/>
                </a:solidFill>
                <a:latin typeface="Segoe UI"/>
              </a:rPr>
              <a:t>  ·  Marketplace de Tecnologia  ·  Programação Back-End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1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gradFill>
            <a:gsLst>
              <a:gs pos="0">
                <a:srgbClr val="3AF6FF"/>
              </a:gs>
              <a:gs pos="100000">
                <a:srgbClr val="0FA7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685800"/>
            <a:ext cx="11183112" cy="1051560"/>
          </a:xfrm>
          <a:prstGeom prst="roundRect">
            <a:avLst/>
          </a:prstGeom>
          <a:solidFill>
            <a:srgbClr val="08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5800"/>
            <a:ext cx="128016" cy="1051560"/>
          </a:xfrm>
          <a:prstGeom prst="rect">
            <a:avLst/>
          </a:prstGeom>
          <a:solidFill>
            <a:srgbClr val="E04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868680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r>
              <a:rPr sz="1100" b="1" i="0">
                <a:solidFill>
                  <a:srgbClr val="E04F5F"/>
                </a:solidFill>
                <a:latin typeface="Segoe UI"/>
              </a:rPr>
              <a:t>QUALIDADE &amp; SEGURANÇA</a:t>
            </a:r>
          </a:p>
          <a:p>
            <a:r>
              <a:rPr sz="2500" b="1" i="0">
                <a:solidFill>
                  <a:srgbClr val="EEF7FF"/>
                </a:solidFill>
                <a:latin typeface="Segoe UI"/>
              </a:rPr>
              <a:t>Validações, testes e proteção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749808"/>
            <a:ext cx="265176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/>
            <a:r>
              <a:rPr sz="1100" b="0" i="0">
                <a:solidFill>
                  <a:srgbClr val="9BB1CA"/>
                </a:solidFill>
                <a:latin typeface="Segoe UI"/>
              </a:rPr>
              <a:t>RNF + Etapa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566160" cy="402336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3566160" cy="82296"/>
          </a:xfrm>
          <a:prstGeom prst="rect">
            <a:avLst/>
          </a:prstGeom>
          <a:solidFill>
            <a:srgbClr val="3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94560"/>
            <a:ext cx="3163824" cy="369417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EEF7FF"/>
                </a:solidFill>
                <a:latin typeface="Segoe UI"/>
              </a:rPr>
              <a:t>Validações de regra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50" b="0" i="0">
                <a:solidFill>
                  <a:srgbClr val="3AF6FF"/>
                </a:solidFill>
                <a:latin typeface="Segoe UI"/>
              </a:rPr>
              <a:t>• </a:t>
            </a:r>
            <a:r>
              <a:rPr sz="1250" b="0" i="0">
                <a:solidFill>
                  <a:srgbClr val="9BB1CA"/>
                </a:solidFill>
                <a:latin typeface="Segoe UI"/>
              </a:rPr>
              <a:t>CPF e CNPJ com dígito verificador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50" b="0" i="0">
                <a:solidFill>
                  <a:srgbClr val="3AF6FF"/>
                </a:solidFill>
                <a:latin typeface="Segoe UI"/>
              </a:rPr>
              <a:t>• </a:t>
            </a:r>
            <a:r>
              <a:rPr sz="1250" b="0" i="0">
                <a:solidFill>
                  <a:srgbClr val="9BB1CA"/>
                </a:solidFill>
                <a:latin typeface="Segoe UI"/>
              </a:rPr>
              <a:t>Documentos únicos no cadastro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50" b="0" i="0">
                <a:solidFill>
                  <a:srgbClr val="3AF6FF"/>
                </a:solidFill>
                <a:latin typeface="Segoe UI"/>
              </a:rPr>
              <a:t>• </a:t>
            </a:r>
            <a:r>
              <a:rPr sz="1250" b="0" i="0">
                <a:solidFill>
                  <a:srgbClr val="9BB1CA"/>
                </a:solidFill>
                <a:latin typeface="Segoe UI"/>
              </a:rPr>
              <a:t>Maioridade (18+) na pessoa física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50" b="0" i="0">
                <a:solidFill>
                  <a:srgbClr val="3AF6FF"/>
                </a:solidFill>
                <a:latin typeface="Segoe UI"/>
              </a:rPr>
              <a:t>• </a:t>
            </a:r>
            <a:r>
              <a:rPr sz="1250" b="0" i="0">
                <a:solidFill>
                  <a:srgbClr val="9BB1CA"/>
                </a:solidFill>
                <a:latin typeface="Segoe UI"/>
              </a:rPr>
              <a:t>Loja não cria troca / só produto novo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50" b="0" i="0">
                <a:solidFill>
                  <a:srgbClr val="3AF6FF"/>
                </a:solidFill>
                <a:latin typeface="Segoe UI"/>
              </a:rPr>
              <a:t>• </a:t>
            </a:r>
            <a:r>
              <a:rPr sz="1250" b="0" i="0">
                <a:solidFill>
                  <a:srgbClr val="9BB1CA"/>
                </a:solidFill>
                <a:latin typeface="Segoe UI"/>
              </a:rPr>
              <a:t>Não adicionar o próprio anúncio ao carrinho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50" b="0" i="0">
                <a:solidFill>
                  <a:srgbClr val="3AF6FF"/>
                </a:solidFill>
                <a:latin typeface="Segoe UI"/>
              </a:rPr>
              <a:t>• </a:t>
            </a:r>
            <a:r>
              <a:rPr sz="1250" b="0" i="0">
                <a:solidFill>
                  <a:srgbClr val="9BB1CA"/>
                </a:solidFill>
                <a:latin typeface="Segoe UI"/>
              </a:rPr>
              <a:t>Máscaras de CPF, telefone, CEP e R$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2011680"/>
            <a:ext cx="3566160" cy="402336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2011680"/>
            <a:ext cx="3566160" cy="82296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2194560"/>
            <a:ext cx="3163824" cy="369417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EEF7FF"/>
                </a:solidFill>
                <a:latin typeface="Segoe UI"/>
              </a:rPr>
              <a:t>Testes automatizados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50" b="0" i="0">
                <a:solidFill>
                  <a:srgbClr val="00FF88"/>
                </a:solidFill>
                <a:latin typeface="Segoe UI"/>
              </a:rPr>
              <a:t>• </a:t>
            </a:r>
            <a:r>
              <a:rPr sz="1250" b="0" i="0">
                <a:solidFill>
                  <a:srgbClr val="9BB1CA"/>
                </a:solidFill>
                <a:latin typeface="Segoe UI"/>
              </a:rPr>
              <a:t>Cadastro de PF e PJ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50" b="0" i="0">
                <a:solidFill>
                  <a:srgbClr val="00FF88"/>
                </a:solidFill>
                <a:latin typeface="Segoe UI"/>
              </a:rPr>
              <a:t>• </a:t>
            </a:r>
            <a:r>
              <a:rPr sz="1250" b="0" i="0">
                <a:solidFill>
                  <a:srgbClr val="9BB1CA"/>
                </a:solidFill>
                <a:latin typeface="Segoe UI"/>
              </a:rPr>
              <a:t>Fluxo de checkout e pedidos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50" b="0" i="0">
                <a:solidFill>
                  <a:srgbClr val="00FF88"/>
                </a:solidFill>
                <a:latin typeface="Segoe UI"/>
              </a:rPr>
              <a:t>• </a:t>
            </a:r>
            <a:r>
              <a:rPr sz="1250" b="0" i="0">
                <a:solidFill>
                  <a:srgbClr val="9BB1CA"/>
                </a:solidFill>
                <a:latin typeface="Segoe UI"/>
              </a:rPr>
              <a:t>Fluxo completo de troca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50" b="0" i="0">
                <a:solidFill>
                  <a:srgbClr val="00FF88"/>
                </a:solidFill>
                <a:latin typeface="Segoe UI"/>
              </a:rPr>
              <a:t>• </a:t>
            </a:r>
            <a:r>
              <a:rPr sz="1250" b="0" i="0">
                <a:solidFill>
                  <a:srgbClr val="9BB1CA"/>
                </a:solidFill>
                <a:latin typeface="Segoe UI"/>
              </a:rPr>
              <a:t>Entrega e histórico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50" b="0" i="0">
                <a:solidFill>
                  <a:srgbClr val="00FF88"/>
                </a:solidFill>
                <a:latin typeface="Segoe UI"/>
              </a:rPr>
              <a:t>• </a:t>
            </a:r>
            <a:r>
              <a:rPr sz="1250" b="0" i="0">
                <a:solidFill>
                  <a:srgbClr val="9BB1CA"/>
                </a:solidFill>
                <a:latin typeface="Segoe UI"/>
              </a:rPr>
              <a:t>Webhooks de pagamento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50" b="0" i="0">
                <a:solidFill>
                  <a:srgbClr val="00FF88"/>
                </a:solidFill>
                <a:latin typeface="Segoe UI"/>
              </a:rPr>
              <a:t>• </a:t>
            </a:r>
            <a:r>
              <a:rPr sz="1250" b="0" i="0">
                <a:solidFill>
                  <a:srgbClr val="9BB1CA"/>
                </a:solidFill>
                <a:latin typeface="Segoe UI"/>
              </a:rPr>
              <a:t>Auth e regras dos models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3296" y="2011680"/>
            <a:ext cx="3566160" cy="402336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83296" y="2011680"/>
            <a:ext cx="3566160" cy="82296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2194560"/>
            <a:ext cx="3163824" cy="369417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EEF7FF"/>
                </a:solidFill>
                <a:latin typeface="Segoe UI"/>
              </a:rPr>
              <a:t>Segurança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50" b="0" i="0">
                <a:solidFill>
                  <a:srgbClr val="FFC107"/>
                </a:solidFill>
                <a:latin typeface="Segoe UI"/>
              </a:rPr>
              <a:t>• </a:t>
            </a:r>
            <a:r>
              <a:rPr sz="1250" b="0" i="0">
                <a:solidFill>
                  <a:srgbClr val="9BB1CA"/>
                </a:solidFill>
                <a:latin typeface="Segoe UI"/>
              </a:rPr>
              <a:t>Senhas validadas pelo Django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50" b="0" i="0">
                <a:solidFill>
                  <a:srgbClr val="FFC107"/>
                </a:solidFill>
                <a:latin typeface="Segoe UI"/>
              </a:rPr>
              <a:t>• </a:t>
            </a:r>
            <a:r>
              <a:rPr sz="1250" b="0" i="0">
                <a:solidFill>
                  <a:srgbClr val="9BB1CA"/>
                </a:solidFill>
                <a:latin typeface="Segoe UI"/>
              </a:rPr>
              <a:t>Segredos fora do código (.env)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50" b="0" i="0">
                <a:solidFill>
                  <a:srgbClr val="FFC107"/>
                </a:solidFill>
                <a:latin typeface="Segoe UI"/>
              </a:rPr>
              <a:t>• </a:t>
            </a:r>
            <a:r>
              <a:rPr sz="1250" b="0" i="0">
                <a:solidFill>
                  <a:srgbClr val="9BB1CA"/>
                </a:solidFill>
                <a:latin typeface="Segoe UI"/>
              </a:rPr>
              <a:t>CSRF em todos os formulários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50" b="0" i="0">
                <a:solidFill>
                  <a:srgbClr val="FFC107"/>
                </a:solidFill>
                <a:latin typeface="Segoe UI"/>
              </a:rPr>
              <a:t>• </a:t>
            </a:r>
            <a:r>
              <a:rPr sz="1250" b="0" i="0">
                <a:solidFill>
                  <a:srgbClr val="9BB1CA"/>
                </a:solidFill>
                <a:latin typeface="Segoe UI"/>
              </a:rPr>
              <a:t>Cookies seguros + SSL em produção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50" b="0" i="0">
                <a:solidFill>
                  <a:srgbClr val="FFC107"/>
                </a:solidFill>
                <a:latin typeface="Segoe UI"/>
              </a:rPr>
              <a:t>• </a:t>
            </a:r>
            <a:r>
              <a:rPr sz="1250" b="0" i="0">
                <a:solidFill>
                  <a:srgbClr val="9BB1CA"/>
                </a:solidFill>
                <a:latin typeface="Segoe UI"/>
              </a:rPr>
              <a:t>HSTS e ALLOWED_HOSTS obrigatórios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250" b="0" i="0">
                <a:solidFill>
                  <a:srgbClr val="FFC107"/>
                </a:solidFill>
                <a:latin typeface="Segoe UI"/>
              </a:rPr>
              <a:t>• </a:t>
            </a:r>
            <a:r>
              <a:rPr sz="1250" b="0" i="0">
                <a:solidFill>
                  <a:srgbClr val="9BB1CA"/>
                </a:solidFill>
                <a:latin typeface="Segoe UI"/>
              </a:rPr>
              <a:t>JWT para a API REST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r>
              <a:rPr sz="900" b="1" i="0">
                <a:solidFill>
                  <a:srgbClr val="3AF6FF"/>
                </a:solidFill>
                <a:latin typeface="Segoe UI"/>
              </a:rPr>
              <a:t>Tech Hub</a:t>
            </a:r>
            <a:r>
              <a:rPr sz="900" b="0" i="0">
                <a:solidFill>
                  <a:srgbClr val="6B7A99"/>
                </a:solidFill>
                <a:latin typeface="Segoe UI"/>
              </a:rPr>
              <a:t>  ·  Marketplace de Tecnologia  ·  Programação Back-End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1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gradFill>
            <a:gsLst>
              <a:gs pos="0">
                <a:srgbClr val="3AF6FF"/>
              </a:gs>
              <a:gs pos="100000">
                <a:srgbClr val="0FA7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685800"/>
            <a:ext cx="11183112" cy="1051560"/>
          </a:xfrm>
          <a:prstGeom prst="roundRect">
            <a:avLst/>
          </a:prstGeom>
          <a:solidFill>
            <a:srgbClr val="08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5800"/>
            <a:ext cx="128016" cy="1051560"/>
          </a:xfrm>
          <a:prstGeom prst="rect">
            <a:avLst/>
          </a:prstGeom>
          <a:solidFill>
            <a:srgbClr val="0F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868680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r>
              <a:rPr sz="1100" b="1" i="0">
                <a:solidFill>
                  <a:srgbClr val="0FA7FF"/>
                </a:solidFill>
                <a:latin typeface="Segoe UI"/>
              </a:rPr>
              <a:t>3 · DECISÕES TÉCNICAS</a:t>
            </a:r>
          </a:p>
          <a:p>
            <a:r>
              <a:rPr sz="2500" b="1" i="0">
                <a:solidFill>
                  <a:srgbClr val="EEF7FF"/>
                </a:solidFill>
                <a:latin typeface="Segoe UI"/>
              </a:rPr>
              <a:t>Por que fizemos assim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749808"/>
            <a:ext cx="265176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/>
            <a:r>
              <a:rPr sz="1100" b="0" i="0">
                <a:solidFill>
                  <a:srgbClr val="9BB1CA"/>
                </a:solidFill>
                <a:latin typeface="Segoe UI"/>
              </a:rPr>
              <a:t>2–3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0972800" cy="4114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3AF6FF"/>
                </a:solidFill>
                <a:latin typeface="Segoe UI"/>
              </a:rPr>
              <a:t>▸  </a:t>
            </a:r>
            <a:r>
              <a:rPr sz="1450" b="1" i="0">
                <a:solidFill>
                  <a:srgbClr val="EEF7FF"/>
                </a:solidFill>
                <a:latin typeface="Segoe UI"/>
              </a:rPr>
              <a:t>User customizado desde o início</a:t>
            </a:r>
            <a:r>
              <a:rPr sz="1450" b="0" i="0">
                <a:solidFill>
                  <a:srgbClr val="9BB1CA"/>
                </a:solidFill>
                <a:latin typeface="Segoe UI"/>
              </a:rPr>
              <a:t>  —  AbstractUser com is_store evita migração dolorosa depois e unifica PF/PJ num só login.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3AF6FF"/>
                </a:solidFill>
                <a:latin typeface="Segoe UI"/>
              </a:rPr>
              <a:t>▸  </a:t>
            </a:r>
            <a:r>
              <a:rPr sz="1450" b="1" i="0">
                <a:solidFill>
                  <a:srgbClr val="EEF7FF"/>
                </a:solidFill>
                <a:latin typeface="Segoe UI"/>
              </a:rPr>
              <a:t>Perfis separados (Common/Store)</a:t>
            </a:r>
            <a:r>
              <a:rPr sz="1450" b="0" i="0">
                <a:solidFill>
                  <a:srgbClr val="9BB1CA"/>
                </a:solidFill>
                <a:latin typeface="Segoe UI"/>
              </a:rPr>
              <a:t>  —  cada tipo tem campos e validações próprios sem poluir o User com dezenas de colunas opcionais.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3AF6FF"/>
                </a:solidFill>
                <a:latin typeface="Segoe UI"/>
              </a:rPr>
              <a:t>▸  </a:t>
            </a:r>
            <a:r>
              <a:rPr sz="1450" b="1" i="0">
                <a:solidFill>
                  <a:srgbClr val="EEF7FF"/>
                </a:solidFill>
                <a:latin typeface="Segoe UI"/>
              </a:rPr>
              <a:t>Lógica em domains/ e não nas views</a:t>
            </a:r>
            <a:r>
              <a:rPr sz="1450" b="0" i="0">
                <a:solidFill>
                  <a:srgbClr val="9BB1CA"/>
                </a:solidFill>
                <a:latin typeface="Segoe UI"/>
              </a:rPr>
              <a:t>  —  views finas que delegam para módulos de domínio — mais fácil de ler, testar e dividir entre o grupo.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3AF6FF"/>
                </a:solidFill>
                <a:latin typeface="Segoe UI"/>
              </a:rPr>
              <a:t>▸  </a:t>
            </a:r>
            <a:r>
              <a:rPr sz="1450" b="1" i="0">
                <a:solidFill>
                  <a:srgbClr val="EEF7FF"/>
                </a:solidFill>
                <a:latin typeface="Segoe UI"/>
              </a:rPr>
              <a:t>Snapshots em OrderItem</a:t>
            </a:r>
            <a:r>
              <a:rPr sz="1450" b="0" i="0">
                <a:solidFill>
                  <a:srgbClr val="9BB1CA"/>
                </a:solidFill>
                <a:latin typeface="Segoe UI"/>
              </a:rPr>
              <a:t>  —  título e preço são copiados no pedido; o histórico não muda se o anúncio for editado depois.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3AF6FF"/>
                </a:solidFill>
                <a:latin typeface="Segoe UI"/>
              </a:rPr>
              <a:t>▸  </a:t>
            </a:r>
            <a:r>
              <a:rPr sz="1450" b="1" i="0">
                <a:solidFill>
                  <a:srgbClr val="EEF7FF"/>
                </a:solidFill>
                <a:latin typeface="Segoe UI"/>
              </a:rPr>
              <a:t>Troca como entidades próprias</a:t>
            </a:r>
            <a:r>
              <a:rPr sz="1450" b="0" i="0">
                <a:solidFill>
                  <a:srgbClr val="9BB1CA"/>
                </a:solidFill>
                <a:latin typeface="Segoe UI"/>
              </a:rPr>
              <a:t>  —  TradeRequest/Proposal/Fulfillment modelam a negociação real, em vez de forçar tudo no chat.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50" b="1" i="0">
                <a:solidFill>
                  <a:srgbClr val="3AF6FF"/>
                </a:solidFill>
                <a:latin typeface="Segoe UI"/>
              </a:rPr>
              <a:t>▸  </a:t>
            </a:r>
            <a:r>
              <a:rPr sz="1450" b="1" i="0">
                <a:solidFill>
                  <a:srgbClr val="EEF7FF"/>
                </a:solidFill>
                <a:latin typeface="Segoe UI"/>
              </a:rPr>
              <a:t>Pagamento via gateway + webhook</a:t>
            </a:r>
            <a:r>
              <a:rPr sz="1450" b="0" i="0">
                <a:solidFill>
                  <a:srgbClr val="9BB1CA"/>
                </a:solidFill>
                <a:latin typeface="Segoe UI"/>
              </a:rPr>
              <a:t>  —  o Mercado Pago confirma o pagamento de forma assíncrona, refletindo no status do pedido.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r>
              <a:rPr sz="900" b="1" i="0">
                <a:solidFill>
                  <a:srgbClr val="3AF6FF"/>
                </a:solidFill>
                <a:latin typeface="Segoe UI"/>
              </a:rPr>
              <a:t>Tech Hub</a:t>
            </a:r>
            <a:r>
              <a:rPr sz="900" b="0" i="0">
                <a:solidFill>
                  <a:srgbClr val="6B7A99"/>
                </a:solidFill>
                <a:latin typeface="Segoe UI"/>
              </a:rPr>
              <a:t>  ·  Marketplace de Tecnologia  ·  Programação Back-End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1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gradFill>
            <a:gsLst>
              <a:gs pos="0">
                <a:srgbClr val="3AF6FF"/>
              </a:gs>
              <a:gs pos="100000">
                <a:srgbClr val="0FA7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685800"/>
            <a:ext cx="11183112" cy="1051560"/>
          </a:xfrm>
          <a:prstGeom prst="roundRect">
            <a:avLst/>
          </a:prstGeom>
          <a:solidFill>
            <a:srgbClr val="08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5800"/>
            <a:ext cx="128016" cy="105156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868680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r>
              <a:rPr sz="1100" b="1" i="0">
                <a:solidFill>
                  <a:srgbClr val="FFC107"/>
                </a:solidFill>
                <a:latin typeface="Segoe UI"/>
              </a:rPr>
              <a:t>4 · DIFICULDADES</a:t>
            </a:r>
          </a:p>
          <a:p>
            <a:r>
              <a:rPr sz="2500" b="1" i="0">
                <a:solidFill>
                  <a:srgbClr val="EEF7FF"/>
                </a:solidFill>
                <a:latin typeface="Segoe UI"/>
              </a:rPr>
              <a:t>O que foi difícil e o que aprendemos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749808"/>
            <a:ext cx="265176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/>
            <a:r>
              <a:rPr sz="1100" b="0" i="0">
                <a:solidFill>
                  <a:srgbClr val="9BB1CA"/>
                </a:solidFill>
                <a:latin typeface="Segoe UI"/>
              </a:rPr>
              <a:t>1–2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5440680" cy="402336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5440680" cy="82296"/>
          </a:xfrm>
          <a:prstGeom prst="rect">
            <a:avLst/>
          </a:prstGeom>
          <a:solidFill>
            <a:srgbClr val="E04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94560"/>
            <a:ext cx="5038344" cy="369417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800" b="1" i="0">
                <a:solidFill>
                  <a:srgbClr val="EEF7FF"/>
                </a:solidFill>
                <a:latin typeface="Segoe UI"/>
              </a:rPr>
              <a:t>Desafios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50" b="0" i="0">
                <a:solidFill>
                  <a:srgbClr val="E04F5F"/>
                </a:solidFill>
                <a:latin typeface="Segoe UI"/>
              </a:rPr>
              <a:t>• </a:t>
            </a:r>
            <a:r>
              <a:rPr sz="1350" b="0" i="0">
                <a:solidFill>
                  <a:srgbClr val="9BB1CA"/>
                </a:solidFill>
                <a:latin typeface="Segoe UI"/>
              </a:rPr>
              <a:t>Modelar a negociação de troca por turnos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50" b="0" i="0">
                <a:solidFill>
                  <a:srgbClr val="E04F5F"/>
                </a:solidFill>
                <a:latin typeface="Segoe UI"/>
              </a:rPr>
              <a:t>• </a:t>
            </a:r>
            <a:r>
              <a:rPr sz="1350" b="0" i="0">
                <a:solidFill>
                  <a:srgbClr val="9BB1CA"/>
                </a:solidFill>
                <a:latin typeface="Segoe UI"/>
              </a:rPr>
              <a:t>Garantir que os dois lados confirmem a entrega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50" b="0" i="0">
                <a:solidFill>
                  <a:srgbClr val="E04F5F"/>
                </a:solidFill>
                <a:latin typeface="Segoe UI"/>
              </a:rPr>
              <a:t>• </a:t>
            </a:r>
            <a:r>
              <a:rPr sz="1350" b="0" i="0">
                <a:solidFill>
                  <a:srgbClr val="9BB1CA"/>
                </a:solidFill>
                <a:latin typeface="Segoe UI"/>
              </a:rPr>
              <a:t>Integrar pagamento e tratar o webhook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50" b="0" i="0">
                <a:solidFill>
                  <a:srgbClr val="E04F5F"/>
                </a:solidFill>
                <a:latin typeface="Segoe UI"/>
              </a:rPr>
              <a:t>• </a:t>
            </a:r>
            <a:r>
              <a:rPr sz="1350" b="0" i="0">
                <a:solidFill>
                  <a:srgbClr val="9BB1CA"/>
                </a:solidFill>
                <a:latin typeface="Segoe UI"/>
              </a:rPr>
              <a:t>Validar CPF/CNPJ e aplicar máscaras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50" b="0" i="0">
                <a:solidFill>
                  <a:srgbClr val="E04F5F"/>
                </a:solidFill>
                <a:latin typeface="Segoe UI"/>
              </a:rPr>
              <a:t>• </a:t>
            </a:r>
            <a:r>
              <a:rPr sz="1350" b="0" i="0">
                <a:solidFill>
                  <a:srgbClr val="9BB1CA"/>
                </a:solidFill>
                <a:latin typeface="Segoe UI"/>
              </a:rPr>
              <a:t>Manter o visual consistente em todas as telas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011680"/>
            <a:ext cx="5440680" cy="402336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82296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5038344" cy="369417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800" b="1" i="0">
                <a:solidFill>
                  <a:srgbClr val="EEF7FF"/>
                </a:solidFill>
                <a:latin typeface="Segoe UI"/>
              </a:rPr>
              <a:t>Aprendizados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50" b="0" i="0">
                <a:solidFill>
                  <a:srgbClr val="00FF88"/>
                </a:solidFill>
                <a:latin typeface="Segoe UI"/>
              </a:rPr>
              <a:t>• </a:t>
            </a:r>
            <a:r>
              <a:rPr sz="1350" b="0" i="0">
                <a:solidFill>
                  <a:srgbClr val="9BB1CA"/>
                </a:solidFill>
                <a:latin typeface="Segoe UI"/>
              </a:rPr>
              <a:t>Modelagem de dados orienta todo o resto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50" b="0" i="0">
                <a:solidFill>
                  <a:srgbClr val="00FF88"/>
                </a:solidFill>
                <a:latin typeface="Segoe UI"/>
              </a:rPr>
              <a:t>• </a:t>
            </a:r>
            <a:r>
              <a:rPr sz="1350" b="0" i="0">
                <a:solidFill>
                  <a:srgbClr val="9BB1CA"/>
                </a:solidFill>
                <a:latin typeface="Segoe UI"/>
              </a:rPr>
              <a:t>Separar a lógica em domínios facilita o trabalho em grupo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50" b="0" i="0">
                <a:solidFill>
                  <a:srgbClr val="00FF88"/>
                </a:solidFill>
                <a:latin typeface="Segoe UI"/>
              </a:rPr>
              <a:t>• </a:t>
            </a:r>
            <a:r>
              <a:rPr sz="1350" b="0" i="0">
                <a:solidFill>
                  <a:srgbClr val="9BB1CA"/>
                </a:solidFill>
                <a:latin typeface="Segoe UI"/>
              </a:rPr>
              <a:t>Testes dão segurança para mexer no código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50" b="0" i="0">
                <a:solidFill>
                  <a:srgbClr val="00FF88"/>
                </a:solidFill>
                <a:latin typeface="Segoe UI"/>
              </a:rPr>
              <a:t>• </a:t>
            </a:r>
            <a:r>
              <a:rPr sz="1350" b="0" i="0">
                <a:solidFill>
                  <a:srgbClr val="9BB1CA"/>
                </a:solidFill>
                <a:latin typeface="Segoe UI"/>
              </a:rPr>
              <a:t>Validar no backend, não só no frontend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50" b="0" i="0">
                <a:solidFill>
                  <a:srgbClr val="00FF88"/>
                </a:solidFill>
                <a:latin typeface="Segoe UI"/>
              </a:rPr>
              <a:t>• </a:t>
            </a:r>
            <a:r>
              <a:rPr sz="1350" b="0" i="0">
                <a:solidFill>
                  <a:srgbClr val="9BB1CA"/>
                </a:solidFill>
                <a:latin typeface="Segoe UI"/>
              </a:rPr>
              <a:t>Git com commits frequentes salva o projeto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r>
              <a:rPr sz="900" b="1" i="0">
                <a:solidFill>
                  <a:srgbClr val="3AF6FF"/>
                </a:solidFill>
                <a:latin typeface="Segoe UI"/>
              </a:rPr>
              <a:t>Tech Hub</a:t>
            </a:r>
            <a:r>
              <a:rPr sz="900" b="0" i="0">
                <a:solidFill>
                  <a:srgbClr val="6B7A99"/>
                </a:solidFill>
                <a:latin typeface="Segoe UI"/>
              </a:rPr>
              <a:t>  ·  Marketplace de Tecnologia  ·  Programação Back-End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1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gradFill>
            <a:gsLst>
              <a:gs pos="0">
                <a:srgbClr val="3AF6FF"/>
              </a:gs>
              <a:gs pos="100000">
                <a:srgbClr val="0FA7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685800"/>
            <a:ext cx="11183112" cy="1051560"/>
          </a:xfrm>
          <a:prstGeom prst="roundRect">
            <a:avLst/>
          </a:prstGeom>
          <a:solidFill>
            <a:srgbClr val="08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5800"/>
            <a:ext cx="128016" cy="1051560"/>
          </a:xfrm>
          <a:prstGeom prst="rect">
            <a:avLst/>
          </a:prstGeom>
          <a:solidFill>
            <a:srgbClr val="3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868680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r>
              <a:rPr sz="1100" b="1" i="0">
                <a:solidFill>
                  <a:srgbClr val="3AF6FF"/>
                </a:solidFill>
                <a:latin typeface="Segoe UI"/>
              </a:rPr>
              <a:t>ROADMAP</a:t>
            </a:r>
          </a:p>
          <a:p>
            <a:r>
              <a:rPr sz="2500" b="1" i="0">
                <a:solidFill>
                  <a:srgbClr val="EEF7FF"/>
                </a:solidFill>
                <a:latin typeface="Segoe UI"/>
              </a:rPr>
              <a:t>Próximos passos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0" y="749808"/>
            <a:ext cx="265176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/>
            <a:r>
              <a:rPr sz="1100" b="0" i="0">
                <a:solidFill>
                  <a:srgbClr val="9BB1CA"/>
                </a:solidFill>
                <a:latin typeface="Segoe UI"/>
              </a:rPr>
              <a:t>Etapa 7 · Deploy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566160" cy="402336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3566160" cy="82296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94560"/>
            <a:ext cx="3163824" cy="369417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EEF7FF"/>
                </a:solidFill>
                <a:latin typeface="Segoe UI"/>
              </a:rPr>
              <a:t>Em andamento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FFC107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Deploy em produção (Railway / Render)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FFC107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collectstatic + Postgres gerenciado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FFC107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Variáveis de ambiente no servidor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FFC107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Domínio e HTTPS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2011680"/>
            <a:ext cx="3566160" cy="402336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2011680"/>
            <a:ext cx="3566160" cy="82296"/>
          </a:xfrm>
          <a:prstGeom prst="rect">
            <a:avLst/>
          </a:prstGeom>
          <a:solidFill>
            <a:srgbClr val="0F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2194560"/>
            <a:ext cx="3163824" cy="369417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EEF7FF"/>
                </a:solidFill>
                <a:latin typeface="Segoe UI"/>
              </a:rPr>
              <a:t>Melhorias planejadas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0FA7FF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Avaliações de vendedor (RF06)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0FA7FF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Chat em tempo real (WebSockets)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0FA7FF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Imagens em cloud storage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0FA7FF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Notificações de negociação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3296" y="2011680"/>
            <a:ext cx="3566160" cy="4023360"/>
          </a:xfrm>
          <a:prstGeom prst="roundRect">
            <a:avLst/>
          </a:prstGeom>
          <a:solidFill>
            <a:srgbClr val="081D3D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83296" y="2011680"/>
            <a:ext cx="3566160" cy="82296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2194560"/>
            <a:ext cx="3163824" cy="369417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EEF7FF"/>
                </a:solidFill>
                <a:latin typeface="Segoe UI"/>
              </a:rPr>
              <a:t>Polimento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00FF88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Refino de responsividade mobile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00FF88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Mais cobertura de testes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00FF88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Painel admin de moderação</a:t>
            </a:r>
          </a:p>
          <a:p>
            <a:pPr>
              <a:lnSpc>
                <a:spcPct val="104000"/>
              </a:lnSpc>
              <a:spcAft>
                <a:spcPts val="400"/>
              </a:spcAft>
            </a:pPr>
            <a:r>
              <a:rPr sz="1300" b="0" i="0">
                <a:solidFill>
                  <a:srgbClr val="00FF88"/>
                </a:solidFill>
                <a:latin typeface="Segoe UI"/>
              </a:rPr>
              <a:t>• </a:t>
            </a:r>
            <a:r>
              <a:rPr sz="1300" b="0" i="0">
                <a:solidFill>
                  <a:srgbClr val="9BB1CA"/>
                </a:solidFill>
                <a:latin typeface="Segoe UI"/>
              </a:rPr>
              <a:t>Acessibilidade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r>
              <a:rPr sz="900" b="1" i="0">
                <a:solidFill>
                  <a:srgbClr val="3AF6FF"/>
                </a:solidFill>
                <a:latin typeface="Segoe UI"/>
              </a:rPr>
              <a:t>Tech Hub</a:t>
            </a:r>
            <a:r>
              <a:rPr sz="900" b="0" i="0">
                <a:solidFill>
                  <a:srgbClr val="6B7A99"/>
                </a:solidFill>
                <a:latin typeface="Segoe UI"/>
              </a:rPr>
              <a:t>  ·  Marketplace de Tecnologia  ·  Programação Back-End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1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869680" y="2743200"/>
            <a:ext cx="4572000" cy="4572000"/>
          </a:xfrm>
          <a:prstGeom prst="rect">
            <a:avLst/>
          </a:prstGeom>
          <a:solidFill>
            <a:srgbClr val="08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gradFill>
            <a:gsLst>
              <a:gs pos="0">
                <a:srgbClr val="3AF6FF"/>
              </a:gs>
              <a:gs pos="100000">
                <a:srgbClr val="0FA7FF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23774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r>
              <a:rPr sz="4800" b="1" i="0">
                <a:solidFill>
                  <a:srgbClr val="EEF7FF"/>
                </a:solidFill>
                <a:latin typeface="Segoe UI"/>
              </a:rPr>
              <a:t>Obrigado!</a:t>
            </a:r>
          </a:p>
          <a:p>
            <a:pPr>
              <a:spcBef>
                <a:spcPts val="1000"/>
              </a:spcBef>
            </a:pPr>
            <a:r>
              <a:rPr sz="2800" b="1" i="0">
                <a:solidFill>
                  <a:srgbClr val="3AF6FF"/>
                </a:solidFill>
                <a:latin typeface="Segoe UI"/>
              </a:rPr>
              <a:t>Perguntas?</a:t>
            </a:r>
          </a:p>
          <a:p>
            <a:pPr>
              <a:spcBef>
                <a:spcPts val="1800"/>
              </a:spcBef>
            </a:pPr>
            <a:r>
              <a:rPr sz="1500" b="0" i="0">
                <a:solidFill>
                  <a:srgbClr val="9BB1CA"/>
                </a:solidFill>
                <a:latin typeface="Segoe UI"/>
              </a:rPr>
              <a:t>Tech Hub  ·  Marketplace de Tecnologia em Django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6B7A99"/>
                </a:solidFill>
                <a:latin typeface="Segoe UI"/>
              </a:rPr>
              <a:t>Demonstração ao vivo disponível.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15568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r>
              <a:rPr sz="900" b="1" i="0">
                <a:solidFill>
                  <a:srgbClr val="3AF6FF"/>
                </a:solidFill>
                <a:latin typeface="Segoe UI"/>
              </a:rPr>
              <a:t>Tech Hub</a:t>
            </a:r>
            <a:r>
              <a:rPr sz="900" b="0" i="0">
                <a:solidFill>
                  <a:srgbClr val="6B7A99"/>
                </a:solidFill>
                <a:latin typeface="Segoe UI"/>
              </a:rPr>
              <a:t>  ·  Marketplace de Tecnologia  ·  Programação Back-End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32004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r"/>
            <a:r>
              <a:rPr sz="900" b="0" i="0">
                <a:solidFill>
                  <a:srgbClr val="6B7A99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